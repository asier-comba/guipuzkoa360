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d3611a50c80e4152" Type="http://schemas.openxmlformats.org/officeDocument/2006/relationships/officeDocument" Target="ppt/presentation.xml"/><Relationship Id="Rdc90e9f7bdae448d" Type="http://schemas.openxmlformats.org/officeDocument/2006/relationships/extended-properties" Target="docProps/app.xml"/><Relationship Id="Re7c8f6a2d1cb4c53"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63d9d97ffd724c2d"/>
  </p:sldMasterIdLst>
  <p:notesMasterIdLst>
    <p:notesMasterId xmlns:r="http://schemas.openxmlformats.org/officeDocument/2006/relationships" r:id="R78d30a1a5cc449c1"/>
  </p:notesMasterIdLst>
  <p:sldIdLst>
    <p:sldId xmlns:r="http://schemas.openxmlformats.org/officeDocument/2006/relationships" id="256" r:id="R560b1be4e82940bf"/>
    <p:sldId xmlns:r="http://schemas.openxmlformats.org/officeDocument/2006/relationships" id="257" r:id="R871b51c847a64bfc"/>
    <p:sldId xmlns:r="http://schemas.openxmlformats.org/officeDocument/2006/relationships" id="258" r:id="R24fcc3c268bc4e90"/>
    <p:sldId xmlns:r="http://schemas.openxmlformats.org/officeDocument/2006/relationships" id="259" r:id="R74694d4c52494ae8"/>
    <p:sldId xmlns:r="http://schemas.openxmlformats.org/officeDocument/2006/relationships" id="260" r:id="Ra390414044554c91"/>
    <p:sldId xmlns:r="http://schemas.openxmlformats.org/officeDocument/2006/relationships" id="261" r:id="R96b1aa33fd434eb6"/>
    <p:sldId xmlns:r="http://schemas.openxmlformats.org/officeDocument/2006/relationships" id="262" r:id="R9b1fc6d9b11a4b6a"/>
    <p:sldId xmlns:r="http://schemas.openxmlformats.org/officeDocument/2006/relationships" id="263" r:id="Raae70bf2973547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cbaca5842b44ec" Type="http://schemas.openxmlformats.org/officeDocument/2006/relationships/theme" Target="theme/theme1.xml"/><Relationship Id="R0dbcc12422b74acf" Type="http://schemas.openxmlformats.org/officeDocument/2006/relationships/tableStyles" Target="tableStyles.xml"/><Relationship Id="R24fcc3c268bc4e90" Type="http://schemas.openxmlformats.org/officeDocument/2006/relationships/slide" Target="slides/slide3.xml"/><Relationship Id="R560b1be4e82940bf" Type="http://schemas.openxmlformats.org/officeDocument/2006/relationships/slide" Target="slides/slide1.xml"/><Relationship Id="R63d9d97ffd724c2d" Type="http://schemas.openxmlformats.org/officeDocument/2006/relationships/slideMaster" Target="slideMasters/slideMaster1.xml"/><Relationship Id="R74694d4c52494ae8" Type="http://schemas.openxmlformats.org/officeDocument/2006/relationships/slide" Target="slides/slide4.xml"/><Relationship Id="R78d30a1a5cc449c1" Type="http://schemas.openxmlformats.org/officeDocument/2006/relationships/notesMaster" Target="notesMasters/notesMaster1.xml"/><Relationship Id="R871b51c847a64bfc" Type="http://schemas.openxmlformats.org/officeDocument/2006/relationships/slide" Target="slides/slide2.xml"/><Relationship Id="R96b1aa33fd434eb6" Type="http://schemas.openxmlformats.org/officeDocument/2006/relationships/slide" Target="slides/slide6.xml"/><Relationship Id="R9b1fc6d9b11a4b6a" Type="http://schemas.openxmlformats.org/officeDocument/2006/relationships/slide" Target="slides/slide7.xml"/><Relationship Id="Ra390414044554c91" Type="http://schemas.openxmlformats.org/officeDocument/2006/relationships/slide" Target="slides/slide5.xml"/><Relationship Id="Raae70bf2973547ce" Type="http://schemas.openxmlformats.org/officeDocument/2006/relationships/slide" Target="slides/slide8.xml"/><Relationship Id="Re3a9c98d504d4d0e"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970933efdf8240f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8dc16bea3e84a8f" Type="http://schemas.openxmlformats.org/officeDocument/2006/relationships/slide" Target="../slides/slide1.xml"/><Relationship Id="Rc2292ab10aa14173"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6ef15618b91429d" Type="http://schemas.openxmlformats.org/officeDocument/2006/relationships/notesMaster" Target="../notesMasters/notesMaster1.xml"/><Relationship Id="R91cb7d2f13074e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a19da8d5d0249f1" Type="http://schemas.openxmlformats.org/officeDocument/2006/relationships/slide" Target="../slides/slide3.xml"/><Relationship Id="R584d2b1543944453"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2fa442257984099" Type="http://schemas.openxmlformats.org/officeDocument/2006/relationships/slide" Target="../slides/slide4.xml"/><Relationship Id="Rafbe426012ae4f6f"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5736b630e844533" Type="http://schemas.openxmlformats.org/officeDocument/2006/relationships/notesMaster" Target="../notesMasters/notesMaster1.xml"/><Relationship Id="R2ff1901a9fce4a60"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445bba60689742ff" Type="http://schemas.openxmlformats.org/officeDocument/2006/relationships/slide" Target="../slides/slide6.xml"/><Relationship Id="Re15ab6e92c2e40ae"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ae8252e4e434f71" Type="http://schemas.openxmlformats.org/officeDocument/2006/relationships/notesMaster" Target="../notesMasters/notesMaster1.xml"/><Relationship Id="R4079f359a58e4773"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9b4abd4fba14c80" Type="http://schemas.openxmlformats.org/officeDocument/2006/relationships/slide" Target="../slides/slide8.xml"/><Relationship Id="R4de9934309cf4192"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DeustoAI Labs / Universidad de Deusto. Proyecto de análisis territorial y visitas programadas/modeladas. Equipo: Oier Duñabeitia Berezo, Asier Comba Lopez y Hugo Fernández Díez.</a:t>
            </a:r>
          </a:p>
          <a:p xmlns:a="http://schemas.openxmlformats.org/drawingml/2006/main">
            <a:r>
              <a:t>Código, datos preparados y metodología: https://github.com/Asier-Comba/Guipuzkoa360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Planteamiento del proyecto, sin afirmar necesidades sanitarias individuales. Destinatarios: equipos técnicos de movilidad, cuidados y planificación territorial.</a:t>
            </a:r>
          </a:p>
          <a:p xmlns:a="http://schemas.openxmlformats.org/drawingml/2006/main">
            <a:r>
              <a:t>Código, datos preparados y metodología: https://github.com/Asier-Comba/Guipuzkoa360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territorial documentado: 65+, atención primaria, población 01/01/2025, cuantil0.75, referencia2km. Cortes23.973% y2019.2m,7 municipios. Legazpi27.170%,2624.8m. Eustat,geoEuskadi,OpenDataEuskadi. Mapa real guardado de la demo https://asier-comba.github.io/Guipuzkoa360/.</a:t>
            </a:r>
          </a:p>
          <a:p xmlns:a="http://schemas.openxmlformats.org/drawingml/2006/main">
            <a:r>
              <a:t>Código, datos preparados y metodología: https://github.com/Asier-Comba/Guipuzkoa360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Cálculo observado en el portal el 04/10/2026 con GIPUZKOA 360 · R28 final · v1. Zegama → Beasain, fecha de servicio 29/09/2026, cita 09:30, consulta 20 minutos. Total 10.691 segundos, inicio 08:09:37, fin 11:07:48. El resultado incluye ocho componentes consecutivos. Evidencia conservada en la revisión final; no es un viaje observado.</a:t>
            </a:r>
          </a:p>
          <a:p xmlns:a="http://schemas.openxmlformats.org/drawingml/2006/main">
            <a:r>
              <a:t>Código, datos preparados y metodología: https://github.com/Asier-Comba/Guipuzkoa360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observada en una conversación nueva del portal el 04/10/2026 con R28 final v1. Una llamada plan_visit con las horas 09:30 y 09:45, origen Zegama, destino Beasain, fecha 29/09/2026 y consulta de 20 minutos. Totales 10.691 y 8.591 segundos; diferencia −2.100 segundos, inicio +2.100 segundos y mismo fin. Comparación condicionada a horarios programados y paseo modelado; no ahorro observado ni recomendación.</a:t>
            </a:r>
          </a:p>
          <a:p xmlns:a="http://schemas.openxmlformats.org/drawingml/2006/main">
            <a:r>
              <a:t>Código, datos preparados y metodología: https://github.com/Asier-Comba/Guipuzkoa360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observada en una conversación nueva del portal el 04/10/2026 con R28 final v1. La primera conversación histórica de R28 permanece fallida y se conserva; no se borra ni se presenta como aprobada. La nueva ejecución con etiquetas públicas Segura y Ambulatorio de Beasain y fecha 29/09/2026 devolvió una comparación válida. Consulta 30 minutos; horas 10:00 y 10:15; totales 9.323 y 11.123 segundos; diferencia +1.800 segundos. Inicio +1.800 segundos y fin +3.600 segundos.</a:t>
            </a:r>
          </a:p>
          <a:p xmlns:a="http://schemas.openxmlformats.org/drawingml/2006/main">
            <a:r>
              <a:t>Código, datos preparados y metodología: https://github.com/Asier-Comba/Guipuzkoa360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GTFS Moveuskadi/Goierrialdea validez2026-09-28/2026-12-27: https://opendata.euskadi.eus/transport/moveuskadi/lurraldebus/goierrialdea/gtfs_goierrialdea.zip. Registro sanitario20/09/2026: https://opendata.euskadi.eus/catalogo/-/centros-de-salud-publicos-en-euskadi/. Ficha Osakidetza observada29/09/2026: https://www.osakidetza.euskadi.eus/ambulatorio-de-beasain/webosk00-cercon/es/. PADIenero2026conflicto conservado. OSM adquirido29/09/2026,ODbL. Perfil50m/min+120s/enlace. Márgenes10/3min ya incluidos.</a:t>
            </a:r>
          </a:p>
          <a:p xmlns:a="http://schemas.openxmlformats.org/drawingml/2006/main">
            <a:r>
              <a:t>Código, datos preparados y metodología: https://github.com/Asier-Comba/Guipuzkoa360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Alcance territorial: 88 municipios de Gipuzkoa. Las visitas soportadas parten de paradas admitidas de Zegama, Segura e Idiazabal hacia el Ambulatorio de Beasain y están acotadas a la fecha de servicio validada 29/09/2026. No se calcula desde domicilios ni en tiempo real. No se confirman citas, capacidad, entrada física, accesibilidad universal ni mejor hora para una persona. La validación de ejemplos concretos no acredita corrección universal. La demo pública contiene resultados territoriales guardados; el agente conversacional se utiliza en el portal.</a:t>
            </a:r>
          </a:p>
          <a:p xmlns:a="http://schemas.openxmlformats.org/drawingml/2006/main">
            <a:r>
              <a:t>Código, datos preparados y metodología: https://github.com/Asier-Comba/Guipuzkoa360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0c353a31c474d16"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12b1af31b8b420b" Type="http://schemas.openxmlformats.org/officeDocument/2006/relationships/theme" Target="theme/theme2.xml"/><Relationship Id="Rdbd7a30d65ab4b36"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d7a30d65ab4b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7c9536943b049ff" Type="http://schemas.openxmlformats.org/officeDocument/2006/relationships/slideLayout" Target="../slideLayouts/slideLayout1.xml"/><Relationship Id="Re1c759555fb44b9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90d53ad290f94c3e" Type="http://schemas.openxmlformats.org/officeDocument/2006/relationships/slideLayout" Target="../slideLayouts/slideLayout1.xml"/><Relationship Id="Re529722bcbf94ce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1158719aeb624e2c" Type="http://schemas.openxmlformats.org/officeDocument/2006/relationships/image" Target="../media/image.jpeg"/><Relationship Id="R34416795b9db43d3" Type="http://schemas.openxmlformats.org/officeDocument/2006/relationships/slideLayout" Target="../slideLayouts/slideLayout1.xml"/><Relationship Id="Rb312df0a079d467d"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b8c1d5e57ff465c" Type="http://schemas.openxmlformats.org/officeDocument/2006/relationships/slideLayout" Target="../slideLayouts/slideLayout1.xml"/><Relationship Id="R0ecf8490df35465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cf9c80c48a74d17" Type="http://schemas.openxmlformats.org/officeDocument/2006/relationships/slideLayout" Target="../slideLayouts/slideLayout1.xml"/><Relationship Id="R657dbb4b2d44439d"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317a8dbe2af8444f" Type="http://schemas.openxmlformats.org/officeDocument/2006/relationships/slideLayout" Target="../slideLayouts/slideLayout1.xml"/><Relationship Id="R931ca318fa93404f"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2455d81dfe649ae" Type="http://schemas.openxmlformats.org/officeDocument/2006/relationships/notesSlide" Target="../notesSlides/notesSlide7.xml"/><Relationship Id="R796cd2e4bf10408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2f27f48c7464111" Type="http://schemas.openxmlformats.org/officeDocument/2006/relationships/slideLayout" Target="../slideLayouts/slideLayout1.xml"/><Relationship Id="R4fde132d0ce64bda" Type="http://schemas.openxmlformats.org/officeDocument/2006/relationships/notesSlide" Target="../notesSlides/notesSlide8.xml"/></Relationships>
</file>

<file path=ppt/slides/slide1.xml><?xml version="1.0" encoding="utf-8"?>
<p:sld xmlns:p="http://schemas.openxmlformats.org/presentationml/2006/main">
  <p:cSld>
    <p:bg>
      <p:bgPr>
        <a:solidFill xmlns:a="http://schemas.openxmlformats.org/drawingml/2006/main">
          <a:srgbClr val="0926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C748C0-507A-45B1-88AE-FA169A337264}"/>
              </a:ext>
            </a:extLst>
          </p:cNvPr>
          <p:cNvSpPr>
            <a:spLocks xmlns:a="http://schemas.openxmlformats.org/drawingml/2006/main" noGrp="1"/>
          </p:cNvSpPr>
          <p:nvPr/>
        </p:nvSpPr>
        <p:spPr>
          <a:xfrm xmlns:a="http://schemas.openxmlformats.org/drawingml/2006/main">
            <a:off x="11125200"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BDCFD9"/>
                </a:solidFill>
                <a:latin typeface="Arial"/>
                <a:ea typeface="Arial"/>
                <a:cs typeface="Arial"/>
              </a:defRPr>
            </a:pPr>
            <a:r>
              <a:rPr sz="1200" b="0">
                <a:solidFill>
                  <a:srgbClr val="BDCFD9"/>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4CC61037-AB00-48ED-8B41-6C52A9900D2D}"/>
              </a:ext>
            </a:extLst>
          </p:cNvPr>
          <p:cNvSpPr>
            <a:spLocks xmlns:a="http://schemas.openxmlformats.org/drawingml/2006/main" noGrp="1"/>
          </p:cNvSpPr>
          <p:nvPr/>
        </p:nvSpPr>
        <p:spPr>
          <a:xfrm xmlns:a="http://schemas.openxmlformats.org/drawingml/2006/main">
            <a:off x="571500" y="857250"/>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300" b="1">
                <a:solidFill>
                  <a:srgbClr val="FFFFFF"/>
                </a:solidFill>
                <a:latin typeface="Arial"/>
                <a:ea typeface="Arial"/>
                <a:cs typeface="Arial"/>
              </a:defRPr>
            </a:pPr>
            <a:r>
              <a:rPr sz="6300" b="1">
                <a:solidFill>
                  <a:srgbClr val="FFFFFF"/>
                </a:solidFill>
                <a:latin typeface="Arial"/>
                <a:ea typeface="Arial"/>
                <a:cs typeface="Arial"/>
              </a:rPr>
              <a:t>GIPUZKOA 360</a:t>
            </a:r>
          </a:p>
        </p:txBody>
      </p:sp>
      <p:sp>
        <p:nvSpPr>
          <p:cNvPr id="3" name="">
            <a:extLst xmlns:a="http://schemas.openxmlformats.org/drawingml/2006/main">
              <a:ext uri="{FF2B5EF4-FFF2-40B4-BE49-F238E27FC236}">
                <a16:creationId xmlns:a16="http://schemas.microsoft.com/office/drawing/2014/main" id="{BA9BCAF9-D1DF-4C52-8A65-AD32450FF1FF}"/>
              </a:ext>
            </a:extLst>
          </p:cNvPr>
          <p:cNvSpPr>
            <a:spLocks xmlns:a="http://schemas.openxmlformats.org/drawingml/2006/main" noGrp="1"/>
          </p:cNvSpPr>
          <p:nvPr/>
        </p:nvSpPr>
        <p:spPr>
          <a:xfrm xmlns:a="http://schemas.openxmlformats.org/drawingml/2006/main">
            <a:off x="571500" y="2343150"/>
            <a:ext cx="11049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69DAEC"/>
                </a:solidFill>
                <a:latin typeface="Arial"/>
                <a:ea typeface="Arial"/>
                <a:cs typeface="Arial"/>
              </a:defRPr>
            </a:pPr>
            <a:r>
              <a:rPr sz="4050" b="1">
                <a:solidFill>
                  <a:srgbClr val="69DAEC"/>
                </a:solidFill>
                <a:latin typeface="Arial"/>
                <a:ea typeface="Arial"/>
                <a:cs typeface="Arial"/>
              </a:rPr>
              <a:t>El territorio y el tiempo</a:t>
            </a:r>
          </a:p>
          <a:p xmlns:a="http://schemas.openxmlformats.org/drawingml/2006/main">
            <a:pPr>
              <a:buNone/>
              <a:defRPr sz="4050" b="1">
                <a:solidFill>
                  <a:srgbClr val="69DAEC"/>
                </a:solidFill>
                <a:latin typeface="Arial"/>
                <a:ea typeface="Arial"/>
                <a:cs typeface="Arial"/>
              </a:defRPr>
            </a:pPr>
            <a:r>
              <a:rPr sz="4050" b="1">
                <a:solidFill>
                  <a:srgbClr val="69DAEC"/>
                </a:solidFill>
                <a:latin typeface="Arial"/>
                <a:ea typeface="Arial"/>
                <a:cs typeface="Arial"/>
              </a:rPr>
              <a:t>de una visita sanitaria</a:t>
            </a:r>
          </a:p>
        </p:txBody>
      </p:sp>
      <p:sp>
        <p:nvSpPr>
          <p:cNvPr id="4" name="">
            <a:extLst xmlns:a="http://schemas.openxmlformats.org/drawingml/2006/main">
              <a:ext uri="{FF2B5EF4-FFF2-40B4-BE49-F238E27FC236}">
                <a16:creationId xmlns:a16="http://schemas.microsoft.com/office/drawing/2014/main" id="{05A6F748-325D-4822-9BC3-7E9457A0A240}"/>
              </a:ext>
            </a:extLst>
          </p:cNvPr>
          <p:cNvSpPr>
            <a:spLocks xmlns:a="http://schemas.openxmlformats.org/drawingml/2006/main" noGrp="1"/>
          </p:cNvSpPr>
          <p:nvPr/>
        </p:nvSpPr>
        <p:spPr>
          <a:xfrm xmlns:a="http://schemas.openxmlformats.org/drawingml/2006/main">
            <a:off x="571500" y="4429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Una pregunta. Datos contrastables. Límites explícitos.</a:t>
            </a:r>
          </a:p>
        </p:txBody>
      </p:sp>
      <p:sp>
        <p:nvSpPr>
          <p:cNvPr id="5" name="">
            <a:extLst xmlns:a="http://schemas.openxmlformats.org/drawingml/2006/main">
              <a:ext uri="{FF2B5EF4-FFF2-40B4-BE49-F238E27FC236}">
                <a16:creationId xmlns:a16="http://schemas.microsoft.com/office/drawing/2014/main" id="{C0524232-E6C7-40A1-AB15-EA349273E433}"/>
              </a:ext>
            </a:extLst>
          </p:cNvPr>
          <p:cNvSpPr>
            <a:spLocks xmlns:a="http://schemas.openxmlformats.org/drawingml/2006/main" noGrp="1"/>
          </p:cNvSpPr>
          <p:nvPr/>
        </p:nvSpPr>
        <p:spPr>
          <a:xfrm xmlns:a="http://schemas.openxmlformats.org/drawingml/2006/main">
            <a:off x="571500" y="55530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DCFD9"/>
                </a:solidFill>
                <a:latin typeface="Arial"/>
                <a:ea typeface="Arial"/>
                <a:cs typeface="Arial"/>
              </a:defRPr>
            </a:pPr>
            <a:r>
              <a:rPr sz="1875" b="0">
                <a:solidFill>
                  <a:srgbClr val="BDCFD9"/>
                </a:solidFill>
                <a:latin typeface="Arial"/>
                <a:ea typeface="Arial"/>
                <a:cs typeface="Arial"/>
              </a:rPr>
              <a:t>DeustoAI Labs / Universidad de Deusto</a:t>
            </a:r>
          </a:p>
        </p:txBody>
      </p:sp>
      <p:sp>
        <p:nvSpPr>
          <p:cNvPr id="6" name="">
            <a:extLst xmlns:a="http://schemas.openxmlformats.org/drawingml/2006/main">
              <a:ext uri="{FF2B5EF4-FFF2-40B4-BE49-F238E27FC236}">
                <a16:creationId xmlns:a16="http://schemas.microsoft.com/office/drawing/2014/main" id="{93A3564E-6D4C-4B7B-8E95-C78C7B3EFCCC}"/>
              </a:ext>
            </a:extLst>
          </p:cNvPr>
          <p:cNvSpPr>
            <a:spLocks xmlns:a="http://schemas.openxmlformats.org/drawingml/2006/main" noGrp="1"/>
          </p:cNvSpPr>
          <p:nvPr/>
        </p:nvSpPr>
        <p:spPr>
          <a:xfrm xmlns:a="http://schemas.openxmlformats.org/drawingml/2006/main">
            <a:off x="571500" y="600075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Oier Duñabeitia Berezo, Asier Comba Lopez y Hugo Fernández Díez</a:t>
            </a:r>
          </a:p>
        </p:txBody>
      </p:sp>
    </p:spTree>
    <p:extLst>
      <p:ext uri="{BB962C8B-B14F-4D97-AF65-F5344CB8AC3E}">
        <p14:creationId xmlns:p14="http://schemas.microsoft.com/office/powerpoint/2010/main" val="16748599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B858F0-EAF9-40BA-A26C-269B7A8BBE46}"/>
              </a:ext>
            </a:extLst>
          </p:cNvPr>
          <p:cNvSpPr>
            <a:spLocks xmlns:a="http://schemas.openxmlformats.org/drawingml/2006/main" noGrp="1"/>
          </p:cNvSpPr>
          <p:nvPr/>
        </p:nvSpPr>
        <p:spPr>
          <a:xfrm xmlns:a="http://schemas.openxmlformats.org/drawingml/2006/main">
            <a:off x="571500" y="4572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02E40"/>
                </a:solidFill>
                <a:latin typeface="Arial"/>
                <a:ea typeface="Arial"/>
                <a:cs typeface="Arial"/>
              </a:defRPr>
            </a:pPr>
            <a:r>
              <a:rPr sz="3300" b="1">
                <a:solidFill>
                  <a:srgbClr val="102E40"/>
                </a:solidFill>
                <a:latin typeface="Arial"/>
                <a:ea typeface="Arial"/>
                <a:cs typeface="Arial"/>
              </a:rPr>
              <a:t>Una consulta ocupa más que la consulta</a:t>
            </a:r>
          </a:p>
        </p:txBody>
      </p:sp>
      <p:sp>
        <p:nvSpPr>
          <p:cNvPr id="2" name="">
            <a:extLst xmlns:a="http://schemas.openxmlformats.org/drawingml/2006/main">
              <a:ext uri="{FF2B5EF4-FFF2-40B4-BE49-F238E27FC236}">
                <a16:creationId xmlns:a16="http://schemas.microsoft.com/office/drawing/2014/main" id="{7B309355-55A1-4939-8E96-2501DD5A9B7D}"/>
              </a:ext>
            </a:extLst>
          </p:cNvPr>
          <p:cNvSpPr>
            <a:spLocks xmlns:a="http://schemas.openxmlformats.org/drawingml/2006/main" noGrp="1"/>
          </p:cNvSpPr>
          <p:nvPr/>
        </p:nvSpPr>
        <p:spPr>
          <a:xfrm xmlns:a="http://schemas.openxmlformats.org/drawingml/2006/main">
            <a:off x="11125200"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102E40"/>
                </a:solidFill>
                <a:latin typeface="Arial"/>
                <a:ea typeface="Arial"/>
                <a:cs typeface="Arial"/>
              </a:defRPr>
            </a:pPr>
            <a:r>
              <a:rPr sz="1200" b="0">
                <a:solidFill>
                  <a:srgbClr val="102E4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DCA5464-799D-4CBD-B0A2-12ED571E086E}"/>
              </a:ext>
            </a:extLst>
          </p:cNvPr>
          <p:cNvSpPr>
            <a:spLocks xmlns:a="http://schemas.openxmlformats.org/drawingml/2006/main" noGrp="1"/>
          </p:cNvSpPr>
          <p:nvPr/>
        </p:nvSpPr>
        <p:spPr>
          <a:xfrm xmlns:a="http://schemas.openxmlformats.org/drawingml/2006/main">
            <a:off x="571500" y="1828800"/>
            <a:ext cx="1104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E40"/>
                </a:solidFill>
                <a:latin typeface="Arial"/>
                <a:ea typeface="Arial"/>
                <a:cs typeface="Arial"/>
              </a:defRPr>
            </a:pPr>
            <a:r>
              <a:rPr sz="3225" b="1">
                <a:solidFill>
                  <a:srgbClr val="102E40"/>
                </a:solidFill>
                <a:latin typeface="Arial"/>
                <a:ea typeface="Arial"/>
                <a:cs typeface="Arial"/>
              </a:rPr>
              <a:t>¿Cómo cambia el tiempo de una visita</a:t>
            </a:r>
          </a:p>
          <a:p xmlns:a="http://schemas.openxmlformats.org/drawingml/2006/main">
            <a:pPr>
              <a:buNone/>
              <a:defRPr sz="3225" b="1">
                <a:solidFill>
                  <a:srgbClr val="102E40"/>
                </a:solidFill>
                <a:latin typeface="Arial"/>
                <a:ea typeface="Arial"/>
                <a:cs typeface="Arial"/>
              </a:defRPr>
            </a:pPr>
            <a:r>
              <a:rPr sz="3225" b="1">
                <a:solidFill>
                  <a:srgbClr val="102E40"/>
                </a:solidFill>
                <a:latin typeface="Arial"/>
                <a:ea typeface="Arial"/>
                <a:cs typeface="Arial"/>
              </a:rPr>
              <a:t>cuando cambia el origen o la hora de cita?</a:t>
            </a:r>
          </a:p>
        </p:txBody>
      </p:sp>
      <p:sp>
        <p:nvSpPr>
          <p:cNvPr id="4" name="">
            <a:extLst xmlns:a="http://schemas.openxmlformats.org/drawingml/2006/main">
              <a:ext uri="{FF2B5EF4-FFF2-40B4-BE49-F238E27FC236}">
                <a16:creationId xmlns:a16="http://schemas.microsoft.com/office/drawing/2014/main" id="{0B54C136-85DE-4B56-B94F-4E24ED1E7401}"/>
              </a:ext>
            </a:extLst>
          </p:cNvPr>
          <p:cNvSpPr>
            <a:spLocks xmlns:a="http://schemas.openxmlformats.org/drawingml/2006/main" noGrp="1"/>
          </p:cNvSpPr>
          <p:nvPr/>
        </p:nvSpPr>
        <p:spPr>
          <a:xfrm xmlns:a="http://schemas.openxmlformats.org/drawingml/2006/main">
            <a:off x="571500" y="37338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02E40"/>
                </a:solidFill>
                <a:latin typeface="Arial"/>
                <a:ea typeface="Arial"/>
                <a:cs typeface="Arial"/>
              </a:defRPr>
            </a:pPr>
            <a:r>
              <a:rPr sz="2550" b="0">
                <a:solidFill>
                  <a:srgbClr val="102E40"/>
                </a:solidFill>
                <a:latin typeface="Arial"/>
                <a:ea typeface="Arial"/>
                <a:cs typeface="Arial"/>
              </a:rPr>
              <a:t>El viaje completo incluye autobús, paseo, esperas,</a:t>
            </a:r>
          </a:p>
          <a:p xmlns:a="http://schemas.openxmlformats.org/drawingml/2006/main">
            <a:pPr>
              <a:buNone/>
              <a:defRPr sz="2550" b="0">
                <a:solidFill>
                  <a:srgbClr val="102E40"/>
                </a:solidFill>
                <a:latin typeface="Arial"/>
                <a:ea typeface="Arial"/>
                <a:cs typeface="Arial"/>
              </a:defRPr>
            </a:pPr>
            <a:r>
              <a:rPr sz="2550" b="0">
                <a:solidFill>
                  <a:srgbClr val="102E40"/>
                </a:solidFill>
                <a:latin typeface="Arial"/>
                <a:ea typeface="Arial"/>
                <a:cs typeface="Arial"/>
              </a:rPr>
              <a:t>consulta y regreso a las paradas.</a:t>
            </a:r>
          </a:p>
        </p:txBody>
      </p:sp>
      <p:sp>
        <p:nvSpPr>
          <p:cNvPr id="5" name="">
            <a:extLst xmlns:a="http://schemas.openxmlformats.org/drawingml/2006/main">
              <a:ext uri="{FF2B5EF4-FFF2-40B4-BE49-F238E27FC236}">
                <a16:creationId xmlns:a16="http://schemas.microsoft.com/office/drawing/2014/main" id="{5BF4D16E-83FC-449E-AAE5-2F83C9CB1E26}"/>
              </a:ext>
            </a:extLst>
          </p:cNvPr>
          <p:cNvSpPr>
            <a:spLocks xmlns:a="http://schemas.openxmlformats.org/drawingml/2006/main" noGrp="1"/>
          </p:cNvSpPr>
          <p:nvPr/>
        </p:nvSpPr>
        <p:spPr>
          <a:xfrm xmlns:a="http://schemas.openxmlformats.org/drawingml/2006/main">
            <a:off x="571500" y="52768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087D94"/>
                </a:solidFill>
                <a:latin typeface="Arial"/>
                <a:ea typeface="Arial"/>
                <a:cs typeface="Arial"/>
              </a:defRPr>
            </a:pPr>
            <a:r>
              <a:rPr sz="2175" b="0">
                <a:solidFill>
                  <a:srgbClr val="087D94"/>
                </a:solidFill>
                <a:latin typeface="Arial"/>
                <a:ea typeface="Arial"/>
                <a:cs typeface="Arial"/>
              </a:rPr>
              <a:t>Para equipos técnicos de movilidad, cuidados</a:t>
            </a:r>
          </a:p>
          <a:p xmlns:a="http://schemas.openxmlformats.org/drawingml/2006/main">
            <a:pPr>
              <a:buNone/>
              <a:defRPr sz="2175" b="0">
                <a:solidFill>
                  <a:srgbClr val="087D94"/>
                </a:solidFill>
                <a:latin typeface="Arial"/>
                <a:ea typeface="Arial"/>
                <a:cs typeface="Arial"/>
              </a:defRPr>
            </a:pPr>
            <a:r>
              <a:rPr sz="2175" b="0">
                <a:solidFill>
                  <a:srgbClr val="087D94"/>
                </a:solidFill>
                <a:latin typeface="Arial"/>
                <a:ea typeface="Arial"/>
                <a:cs typeface="Arial"/>
              </a:rPr>
              <a:t>y planificación territorial.</a:t>
            </a:r>
          </a:p>
        </p:txBody>
      </p:sp>
    </p:spTree>
    <p:extLst>
      <p:ext uri="{BB962C8B-B14F-4D97-AF65-F5344CB8AC3E}">
        <p14:creationId xmlns:p14="http://schemas.microsoft.com/office/powerpoint/2010/main" val="18650970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9AFEDB-E6B8-4C56-BC01-73F90EEAF9E7}"/>
              </a:ext>
            </a:extLst>
          </p:cNvPr>
          <p:cNvSpPr>
            <a:spLocks xmlns:a="http://schemas.openxmlformats.org/drawingml/2006/main" noGrp="1"/>
          </p:cNvSpPr>
          <p:nvPr/>
        </p:nvSpPr>
        <p:spPr>
          <a:xfrm xmlns:a="http://schemas.openxmlformats.org/drawingml/2006/main">
            <a:off x="571500" y="4572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02E40"/>
                </a:solidFill>
                <a:latin typeface="Arial"/>
                <a:ea typeface="Arial"/>
                <a:cs typeface="Arial"/>
              </a:defRPr>
            </a:pPr>
            <a:r>
              <a:rPr sz="3300" b="1">
                <a:solidFill>
                  <a:srgbClr val="102E40"/>
                </a:solidFill>
                <a:latin typeface="Arial"/>
                <a:ea typeface="Arial"/>
                <a:cs typeface="Arial"/>
              </a:rPr>
              <a:t>Nivel 1: una mirada a los 88 municipios</a:t>
            </a:r>
          </a:p>
        </p:txBody>
      </p:sp>
      <p:sp>
        <p:nvSpPr>
          <p:cNvPr id="2" name="">
            <a:extLst xmlns:a="http://schemas.openxmlformats.org/drawingml/2006/main">
              <a:ext uri="{FF2B5EF4-FFF2-40B4-BE49-F238E27FC236}">
                <a16:creationId xmlns:a16="http://schemas.microsoft.com/office/drawing/2014/main" id="{CF6EBF42-A3CF-425D-BFF1-857BF1B4D101}"/>
              </a:ext>
            </a:extLst>
          </p:cNvPr>
          <p:cNvSpPr>
            <a:spLocks xmlns:a="http://schemas.openxmlformats.org/drawingml/2006/main" noGrp="1"/>
          </p:cNvSpPr>
          <p:nvPr/>
        </p:nvSpPr>
        <p:spPr>
          <a:xfrm xmlns:a="http://schemas.openxmlformats.org/drawingml/2006/main">
            <a:off x="11125200"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102E40"/>
                </a:solidFill>
                <a:latin typeface="Arial"/>
                <a:ea typeface="Arial"/>
                <a:cs typeface="Arial"/>
              </a:defRPr>
            </a:pPr>
            <a:r>
              <a:rPr sz="1200" b="0">
                <a:solidFill>
                  <a:srgbClr val="102E40"/>
                </a:solidFill>
                <a:latin typeface="Arial"/>
                <a:ea typeface="Arial"/>
                <a:cs typeface="Arial"/>
              </a:rPr>
              <a:t>03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158719aeb624e2c"/>
          <a:stretch xmlns:a="http://schemas.openxmlformats.org/drawingml/2006/main"/>
        </p:blipFill>
        <p:spPr>
          <a:xfrm xmlns:a="http://schemas.openxmlformats.org/drawingml/2006/main">
            <a:off x="571500" y="2145999"/>
            <a:ext cx="5238750" cy="289937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17D432-61C1-44F0-85A8-58EEF3324143}"/>
              </a:ext>
            </a:extLst>
          </p:cNvPr>
          <p:cNvSpPr>
            <a:spLocks xmlns:a="http://schemas.openxmlformats.org/drawingml/2006/main" noGrp="1"/>
          </p:cNvSpPr>
          <p:nvPr/>
        </p:nvSpPr>
        <p:spPr>
          <a:xfrm xmlns:a="http://schemas.openxmlformats.org/drawingml/2006/main">
            <a:off x="6191250" y="185737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02E40"/>
                </a:solidFill>
                <a:latin typeface="Arial"/>
                <a:ea typeface="Arial"/>
                <a:cs typeface="Arial"/>
              </a:defRPr>
            </a:pPr>
            <a:r>
              <a:rPr sz="2550" b="1">
                <a:solidFill>
                  <a:srgbClr val="102E40"/>
                </a:solidFill>
                <a:latin typeface="Arial"/>
                <a:ea typeface="Arial"/>
                <a:cs typeface="Arial"/>
              </a:rPr>
              <a:t>Envejecimiento y distancia</a:t>
            </a:r>
          </a:p>
          <a:p xmlns:a="http://schemas.openxmlformats.org/drawingml/2006/main">
            <a:pPr>
              <a:buNone/>
              <a:defRPr sz="2550" b="1">
                <a:solidFill>
                  <a:srgbClr val="102E40"/>
                </a:solidFill>
                <a:latin typeface="Arial"/>
                <a:ea typeface="Arial"/>
                <a:cs typeface="Arial"/>
              </a:defRPr>
            </a:pPr>
            <a:r>
              <a:rPr sz="2550" b="1">
                <a:solidFill>
                  <a:srgbClr val="102E40"/>
                </a:solidFill>
                <a:latin typeface="Arial"/>
                <a:ea typeface="Arial"/>
                <a:cs typeface="Arial"/>
              </a:rPr>
              <a:t>a servicios registrados</a:t>
            </a:r>
          </a:p>
        </p:txBody>
      </p:sp>
      <p:sp>
        <p:nvSpPr>
          <p:cNvPr id="5" name="">
            <a:extLst xmlns:a="http://schemas.openxmlformats.org/drawingml/2006/main">
              <a:ext uri="{FF2B5EF4-FFF2-40B4-BE49-F238E27FC236}">
                <a16:creationId xmlns:a16="http://schemas.microsoft.com/office/drawing/2014/main" id="{FF485EF7-7778-4579-A98A-896E3A0A7802}"/>
              </a:ext>
            </a:extLst>
          </p:cNvPr>
          <p:cNvSpPr>
            <a:spLocks xmlns:a="http://schemas.openxmlformats.org/drawingml/2006/main" noGrp="1"/>
          </p:cNvSpPr>
          <p:nvPr/>
        </p:nvSpPr>
        <p:spPr>
          <a:xfrm xmlns:a="http://schemas.openxmlformats.org/drawingml/2006/main">
            <a:off x="6191250" y="3143250"/>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087D94"/>
                </a:solidFill>
                <a:latin typeface="Arial"/>
                <a:ea typeface="Arial"/>
                <a:cs typeface="Arial"/>
              </a:defRPr>
            </a:pPr>
            <a:r>
              <a:rPr sz="3900" b="1">
                <a:solidFill>
                  <a:srgbClr val="087D94"/>
                </a:solidFill>
                <a:latin typeface="Arial"/>
                <a:ea typeface="Arial"/>
                <a:cs typeface="Arial"/>
              </a:rPr>
              <a:t>7 municipios</a:t>
            </a:r>
          </a:p>
        </p:txBody>
      </p:sp>
      <p:sp>
        <p:nvSpPr>
          <p:cNvPr id="6" name="">
            <a:extLst xmlns:a="http://schemas.openxmlformats.org/drawingml/2006/main">
              <a:ext uri="{FF2B5EF4-FFF2-40B4-BE49-F238E27FC236}">
                <a16:creationId xmlns:a16="http://schemas.microsoft.com/office/drawing/2014/main" id="{81493BB9-6AB5-4A2E-92B0-74ACC27D47EC}"/>
              </a:ext>
            </a:extLst>
          </p:cNvPr>
          <p:cNvSpPr>
            <a:spLocks xmlns:a="http://schemas.openxmlformats.org/drawingml/2006/main" noGrp="1"/>
          </p:cNvSpPr>
          <p:nvPr/>
        </p:nvSpPr>
        <p:spPr>
          <a:xfrm xmlns:a="http://schemas.openxmlformats.org/drawingml/2006/main">
            <a:off x="6191250" y="4095750"/>
            <a:ext cx="5286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E40"/>
                </a:solidFill>
                <a:latin typeface="Arial"/>
                <a:ea typeface="Arial"/>
                <a:cs typeface="Arial"/>
              </a:defRPr>
            </a:pPr>
            <a:r>
              <a:rPr sz="2025" b="0">
                <a:solidFill>
                  <a:srgbClr val="102E40"/>
                </a:solidFill>
                <a:latin typeface="Arial"/>
                <a:ea typeface="Arial"/>
                <a:cs typeface="Arial"/>
              </a:rPr>
              <a:t>superan ambos cortes en el caso principal.</a:t>
            </a:r>
          </a:p>
          <a:p xmlns:a="http://schemas.openxmlformats.org/drawingml/2006/main">
            <a:pPr>
              <a:buNone/>
              <a:defRPr sz="2025" b="0">
                <a:solidFill>
                  <a:srgbClr val="102E40"/>
                </a:solidFill>
                <a:latin typeface="Arial"/>
                <a:ea typeface="Arial"/>
                <a:cs typeface="Arial"/>
              </a:defRPr>
            </a:pPr>
            <a:r>
              <a:rPr sz="2025" b="0">
                <a:solidFill>
                  <a:srgbClr val="102E40"/>
                </a:solidFill>
                <a:latin typeface="Arial"/>
                <a:ea typeface="Arial"/>
                <a:cs typeface="Arial"/>
              </a:rPr>
              <a:t>Legazpi: 27,170 % de población 65+</a:t>
            </a:r>
          </a:p>
          <a:p xmlns:a="http://schemas.openxmlformats.org/drawingml/2006/main">
            <a:pPr>
              <a:buNone/>
              <a:defRPr sz="2025" b="0">
                <a:solidFill>
                  <a:srgbClr val="102E40"/>
                </a:solidFill>
                <a:latin typeface="Arial"/>
                <a:ea typeface="Arial"/>
                <a:cs typeface="Arial"/>
              </a:defRPr>
            </a:pPr>
            <a:r>
              <a:rPr sz="2025" b="0">
                <a:solidFill>
                  <a:srgbClr val="102E40"/>
                </a:solidFill>
                <a:latin typeface="Arial"/>
                <a:ea typeface="Arial"/>
                <a:cs typeface="Arial"/>
              </a:rPr>
              <a:t>y 2.624,8 m al registro más cercano.</a:t>
            </a:r>
          </a:p>
        </p:txBody>
      </p:sp>
      <p:sp>
        <p:nvSpPr>
          <p:cNvPr id="7" name="">
            <a:extLst xmlns:a="http://schemas.openxmlformats.org/drawingml/2006/main">
              <a:ext uri="{FF2B5EF4-FFF2-40B4-BE49-F238E27FC236}">
                <a16:creationId xmlns:a16="http://schemas.microsoft.com/office/drawing/2014/main" id="{2323CBA3-9519-4681-9B89-59D2A14B084F}"/>
              </a:ext>
            </a:extLst>
          </p:cNvPr>
          <p:cNvSpPr>
            <a:spLocks xmlns:a="http://schemas.openxmlformats.org/drawingml/2006/main" noGrp="1"/>
          </p:cNvSpPr>
          <p:nvPr/>
        </p:nvSpPr>
        <p:spPr>
          <a:xfrm xmlns:a="http://schemas.openxmlformats.org/drawingml/2006/main">
            <a:off x="571500" y="5695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02E40"/>
                </a:solidFill>
                <a:latin typeface="Arial"/>
                <a:ea typeface="Arial"/>
                <a:cs typeface="Arial"/>
              </a:defRPr>
            </a:pPr>
            <a:r>
              <a:rPr sz="1950" b="0">
                <a:solidFill>
                  <a:srgbClr val="102E40"/>
                </a:solidFill>
                <a:latin typeface="Arial"/>
                <a:ea typeface="Arial"/>
                <a:cs typeface="Arial"/>
              </a:rPr>
              <a:t>La distancia parte de un punto municipal. Orienta un estudio posterior.</a:t>
            </a:r>
          </a:p>
        </p:txBody>
      </p:sp>
    </p:spTree>
    <p:extLst>
      <p:ext uri="{BB962C8B-B14F-4D97-AF65-F5344CB8AC3E}">
        <p14:creationId xmlns:p14="http://schemas.microsoft.com/office/powerpoint/2010/main" val="1400293054"/>
      </p:ext>
    </p:extLst>
  </p:cSld>
</p:sld>
</file>

<file path=ppt/slides/slide4.xml><?xml version="1.0" encoding="utf-8"?>
<p:sld xmlns:p="http://schemas.openxmlformats.org/presentationml/2006/main">
  <p:cSld>
    <p:bg>
      <p:bgPr>
        <a:solidFill xmlns:a="http://schemas.openxmlformats.org/drawingml/2006/main">
          <a:srgbClr val="09263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F62463-9BEB-4887-BD69-2CB115EFCEE0}"/>
              </a:ext>
            </a:extLst>
          </p:cNvPr>
          <p:cNvSpPr>
            <a:spLocks xmlns:a="http://schemas.openxmlformats.org/drawingml/2006/main" noGrp="1"/>
          </p:cNvSpPr>
          <p:nvPr/>
        </p:nvSpPr>
        <p:spPr>
          <a:xfrm xmlns:a="http://schemas.openxmlformats.org/drawingml/2006/main">
            <a:off x="571500" y="4572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Nivel 2: la visita completa</a:t>
            </a:r>
          </a:p>
        </p:txBody>
      </p:sp>
      <p:sp>
        <p:nvSpPr>
          <p:cNvPr id="2" name="">
            <a:extLst xmlns:a="http://schemas.openxmlformats.org/drawingml/2006/main">
              <a:ext uri="{FF2B5EF4-FFF2-40B4-BE49-F238E27FC236}">
                <a16:creationId xmlns:a16="http://schemas.microsoft.com/office/drawing/2014/main" id="{7925279F-99CF-40ED-886D-0385668B8E93}"/>
              </a:ext>
            </a:extLst>
          </p:cNvPr>
          <p:cNvSpPr>
            <a:spLocks xmlns:a="http://schemas.openxmlformats.org/drawingml/2006/main" noGrp="1"/>
          </p:cNvSpPr>
          <p:nvPr/>
        </p:nvSpPr>
        <p:spPr>
          <a:xfrm xmlns:a="http://schemas.openxmlformats.org/drawingml/2006/main">
            <a:off x="11125200"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BDCFD9"/>
                </a:solidFill>
                <a:latin typeface="Arial"/>
                <a:ea typeface="Arial"/>
                <a:cs typeface="Arial"/>
              </a:defRPr>
            </a:pPr>
            <a:r>
              <a:rPr sz="1200" b="0">
                <a:solidFill>
                  <a:srgbClr val="BDCFD9"/>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2CFE9C5-239D-4D94-98A1-CA29E1C3201C}"/>
              </a:ext>
            </a:extLst>
          </p:cNvPr>
          <p:cNvSpPr>
            <a:spLocks xmlns:a="http://schemas.openxmlformats.org/drawingml/2006/main" noGrp="1"/>
          </p:cNvSpPr>
          <p:nvPr/>
        </p:nvSpPr>
        <p:spPr>
          <a:xfrm xmlns:a="http://schemas.openxmlformats.org/drawingml/2006/main">
            <a:off x="571500" y="16383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69DAEC"/>
                </a:solidFill>
                <a:latin typeface="Arial"/>
                <a:ea typeface="Arial"/>
                <a:cs typeface="Arial"/>
              </a:defRPr>
            </a:pPr>
            <a:r>
              <a:rPr sz="2250" b="0">
                <a:solidFill>
                  <a:srgbClr val="69DAEC"/>
                </a:solidFill>
                <a:latin typeface="Arial"/>
                <a:ea typeface="Arial"/>
                <a:cs typeface="Arial"/>
              </a:rPr>
              <a:t>Zegama / Beasain / 29 de septiembre de 2026</a:t>
            </a:r>
          </a:p>
        </p:txBody>
      </p:sp>
      <p:sp>
        <p:nvSpPr>
          <p:cNvPr id="4" name="">
            <a:extLst xmlns:a="http://schemas.openxmlformats.org/drawingml/2006/main">
              <a:ext uri="{FF2B5EF4-FFF2-40B4-BE49-F238E27FC236}">
                <a16:creationId xmlns:a16="http://schemas.microsoft.com/office/drawing/2014/main" id="{2B62E3CE-7DF9-44BF-BDEA-5AF009F2AA25}"/>
              </a:ext>
            </a:extLst>
          </p:cNvPr>
          <p:cNvSpPr>
            <a:spLocks xmlns:a="http://schemas.openxmlformats.org/drawingml/2006/main" noGrp="1"/>
          </p:cNvSpPr>
          <p:nvPr/>
        </p:nvSpPr>
        <p:spPr>
          <a:xfrm xmlns:a="http://schemas.openxmlformats.org/drawingml/2006/main">
            <a:off x="571500" y="2571750"/>
            <a:ext cx="1104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850" b="1">
                <a:solidFill>
                  <a:srgbClr val="FFFFFF"/>
                </a:solidFill>
                <a:latin typeface="Arial"/>
                <a:ea typeface="Arial"/>
                <a:cs typeface="Arial"/>
              </a:defRPr>
            </a:pPr>
            <a:r>
              <a:rPr sz="5850" b="1">
                <a:solidFill>
                  <a:srgbClr val="FFFFFF"/>
                </a:solidFill>
                <a:latin typeface="Arial"/>
                <a:ea typeface="Arial"/>
                <a:cs typeface="Arial"/>
              </a:rPr>
              <a:t>2 h 58 min 11 s</a:t>
            </a:r>
          </a:p>
        </p:txBody>
      </p:sp>
      <p:sp>
        <p:nvSpPr>
          <p:cNvPr id="5" name="">
            <a:extLst xmlns:a="http://schemas.openxmlformats.org/drawingml/2006/main">
              <a:ext uri="{FF2B5EF4-FFF2-40B4-BE49-F238E27FC236}">
                <a16:creationId xmlns:a16="http://schemas.microsoft.com/office/drawing/2014/main" id="{0FD02115-A37E-4234-B0E3-995C30CF4FC9}"/>
              </a:ext>
            </a:extLst>
          </p:cNvPr>
          <p:cNvSpPr>
            <a:spLocks xmlns:a="http://schemas.openxmlformats.org/drawingml/2006/main" noGrp="1"/>
          </p:cNvSpPr>
          <p:nvPr/>
        </p:nvSpPr>
        <p:spPr>
          <a:xfrm xmlns:a="http://schemas.openxmlformats.org/drawingml/2006/main">
            <a:off x="571500" y="3914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Cita a las 09:30, consulta de 20 minutos</a:t>
            </a:r>
          </a:p>
        </p:txBody>
      </p:sp>
      <p:sp>
        <p:nvSpPr>
          <p:cNvPr id="6" name="">
            <a:extLst xmlns:a="http://schemas.openxmlformats.org/drawingml/2006/main">
              <a:ext uri="{FF2B5EF4-FFF2-40B4-BE49-F238E27FC236}">
                <a16:creationId xmlns:a16="http://schemas.microsoft.com/office/drawing/2014/main" id="{8534E5A6-3671-480E-9A30-C58C43DBEE2B}"/>
              </a:ext>
            </a:extLst>
          </p:cNvPr>
          <p:cNvSpPr>
            <a:spLocks xmlns:a="http://schemas.openxmlformats.org/drawingml/2006/main" noGrp="1"/>
          </p:cNvSpPr>
          <p:nvPr/>
        </p:nvSpPr>
        <p:spPr>
          <a:xfrm xmlns:a="http://schemas.openxmlformats.org/drawingml/2006/main">
            <a:off x="571500" y="47625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BDCFD9"/>
                </a:solidFill>
                <a:latin typeface="Arial"/>
                <a:ea typeface="Arial"/>
                <a:cs typeface="Arial"/>
              </a:defRPr>
            </a:pPr>
            <a:r>
              <a:rPr sz="2250" b="0">
                <a:solidFill>
                  <a:srgbClr val="BDCFD9"/>
                </a:solidFill>
                <a:latin typeface="Arial"/>
                <a:ea typeface="Arial"/>
                <a:cs typeface="Arial"/>
              </a:rPr>
              <a:t>De 08:09:37 a 11:07:48, entre paradas.</a:t>
            </a:r>
          </a:p>
          <a:p xmlns:a="http://schemas.openxmlformats.org/drawingml/2006/main">
            <a:pPr>
              <a:buNone/>
              <a:defRPr sz="2250" b="0">
                <a:solidFill>
                  <a:srgbClr val="BDCFD9"/>
                </a:solidFill>
                <a:latin typeface="Arial"/>
                <a:ea typeface="Arial"/>
                <a:cs typeface="Arial"/>
              </a:defRPr>
            </a:pPr>
            <a:r>
              <a:rPr sz="2250" b="0">
                <a:solidFill>
                  <a:srgbClr val="BDCFD9"/>
                </a:solidFill>
                <a:latin typeface="Arial"/>
                <a:ea typeface="Arial"/>
                <a:cs typeface="Arial"/>
              </a:rPr>
              <a:t>Incluye esperas, ida, paseo, consulta y regreso.</a:t>
            </a:r>
          </a:p>
        </p:txBody>
      </p:sp>
      <p:sp>
        <p:nvSpPr>
          <p:cNvPr id="7" name="">
            <a:extLst xmlns:a="http://schemas.openxmlformats.org/drawingml/2006/main">
              <a:ext uri="{FF2B5EF4-FFF2-40B4-BE49-F238E27FC236}">
                <a16:creationId xmlns:a16="http://schemas.microsoft.com/office/drawing/2014/main" id="{E338858D-DFE1-4644-B1CD-0DE5340F20B3}"/>
              </a:ext>
            </a:extLst>
          </p:cNvPr>
          <p:cNvSpPr>
            <a:spLocks xmlns:a="http://schemas.openxmlformats.org/drawingml/2006/main" noGrp="1"/>
          </p:cNvSpPr>
          <p:nvPr/>
        </p:nvSpPr>
        <p:spPr>
          <a:xfrm xmlns:a="http://schemas.openxmlformats.org/drawingml/2006/main">
            <a:off x="571500" y="61055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Horario programado y paseo modelado. No es un viaje observado.</a:t>
            </a:r>
          </a:p>
        </p:txBody>
      </p:sp>
    </p:spTree>
    <p:extLst>
      <p:ext uri="{BB962C8B-B14F-4D97-AF65-F5344CB8AC3E}">
        <p14:creationId xmlns:p14="http://schemas.microsoft.com/office/powerpoint/2010/main" val="16315626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8A251C-F154-46F9-97EB-124F578EAFE2}"/>
              </a:ext>
            </a:extLst>
          </p:cNvPr>
          <p:cNvSpPr>
            <a:spLocks xmlns:a="http://schemas.openxmlformats.org/drawingml/2006/main" noGrp="1"/>
          </p:cNvSpPr>
          <p:nvPr/>
        </p:nvSpPr>
        <p:spPr>
          <a:xfrm xmlns:a="http://schemas.openxmlformats.org/drawingml/2006/main">
            <a:off x="571500" y="4572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02E40"/>
                </a:solidFill>
                <a:latin typeface="Arial"/>
                <a:ea typeface="Arial"/>
                <a:cs typeface="Arial"/>
              </a:defRPr>
            </a:pPr>
            <a:r>
              <a:rPr sz="3300" b="1">
                <a:solidFill>
                  <a:srgbClr val="102E40"/>
                </a:solidFill>
                <a:latin typeface="Arial"/>
                <a:ea typeface="Arial"/>
                <a:cs typeface="Arial"/>
              </a:rPr>
              <a:t>Cambiar la cita cambia el viaje</a:t>
            </a:r>
          </a:p>
        </p:txBody>
      </p:sp>
      <p:sp>
        <p:nvSpPr>
          <p:cNvPr id="2" name="">
            <a:extLst xmlns:a="http://schemas.openxmlformats.org/drawingml/2006/main">
              <a:ext uri="{FF2B5EF4-FFF2-40B4-BE49-F238E27FC236}">
                <a16:creationId xmlns:a16="http://schemas.microsoft.com/office/drawing/2014/main" id="{5B097893-A2DE-4903-A03A-E7179BFEBFA6}"/>
              </a:ext>
            </a:extLst>
          </p:cNvPr>
          <p:cNvSpPr>
            <a:spLocks xmlns:a="http://schemas.openxmlformats.org/drawingml/2006/main" noGrp="1"/>
          </p:cNvSpPr>
          <p:nvPr/>
        </p:nvSpPr>
        <p:spPr>
          <a:xfrm xmlns:a="http://schemas.openxmlformats.org/drawingml/2006/main">
            <a:off x="11125200"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102E40"/>
                </a:solidFill>
                <a:latin typeface="Arial"/>
                <a:ea typeface="Arial"/>
                <a:cs typeface="Arial"/>
              </a:defRPr>
            </a:pPr>
            <a:r>
              <a:rPr sz="1200" b="0">
                <a:solidFill>
                  <a:srgbClr val="102E4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0C3D9B7A-1F0B-4BDC-A222-E59308BE63C8}"/>
              </a:ext>
            </a:extLst>
          </p:cNvPr>
          <p:cNvSpPr>
            <a:spLocks xmlns:a="http://schemas.openxmlformats.org/drawingml/2006/main" noGrp="1"/>
          </p:cNvSpPr>
          <p:nvPr/>
        </p:nvSpPr>
        <p:spPr>
          <a:xfrm xmlns:a="http://schemas.openxmlformats.org/drawingml/2006/main">
            <a:off x="571500" y="1552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02E40"/>
                </a:solidFill>
                <a:latin typeface="Arial"/>
                <a:ea typeface="Arial"/>
                <a:cs typeface="Arial"/>
              </a:defRPr>
            </a:pPr>
            <a:r>
              <a:rPr sz="2100" b="0">
                <a:solidFill>
                  <a:srgbClr val="102E40"/>
                </a:solidFill>
                <a:latin typeface="Arial"/>
                <a:ea typeface="Arial"/>
                <a:cs typeface="Arial"/>
              </a:rPr>
              <a:t>Mismo origen, destino, fecha y duración de consulta</a:t>
            </a:r>
          </a:p>
        </p:txBody>
      </p:sp>
      <p:graphicFrame>
        <p:nvGraphicFramePr>
          <p:cNvPr id="12" name=""/>
          <p:cNvGraphicFramePr/>
          <p:nvPr/>
        </p:nvGraphicFramePr>
        <p:xfrm>
          <a:off xmlns:a="http://schemas.openxmlformats.org/drawingml/2006/main" x="571500" y="2305050"/>
          <a:ext xmlns:a="http://schemas.openxmlformats.org/drawingml/2006/main" cx="11049000" cy="1914525"/>
        </p:xfrm>
        <a:graphic xmlns:a="http://schemas.openxmlformats.org/drawingml/2006/main">
          <a:graphicData uri="http://schemas.openxmlformats.org/drawingml/2006/table">
            <a:tbl>
              <a:tblPr/>
              <a:tblGrid>
                <a:gridCol w="2762250"/>
                <a:gridCol w="2762250"/>
                <a:gridCol w="2762250"/>
                <a:gridCol w="2762250"/>
              </a:tblGrid>
              <a:tr h="638175">
                <a:tc>
                  <a:txBody>
                    <a:bodyPr/>
                    <a:lstStyle/>
                    <a:p>
                      <a:r>
                        <a:rPr sz="2025" b="1">
                          <a:solidFill>
                            <a:srgbClr val="FFFFFF"/>
                          </a:solidFill>
                          <a:latin typeface="Arial"/>
                          <a:ea typeface="Arial"/>
                          <a:cs typeface="Arial"/>
                        </a:rPr>
                        <a:t>Cita</a:t>
                      </a:r>
                    </a:p>
                  </a:txBody>
                  <a:tcPr marL="91440" marR="91440" marT="45720" marB="45720">
                    <a:solidFill>
                      <a:srgbClr val="09263B"/>
                    </a:solidFill>
                  </a:tcPr>
                </a:tc>
                <a:tc>
                  <a:txBody>
                    <a:bodyPr/>
                    <a:lstStyle/>
                    <a:p>
                      <a:r>
                        <a:rPr sz="2025" b="1">
                          <a:solidFill>
                            <a:srgbClr val="FFFFFF"/>
                          </a:solidFill>
                          <a:latin typeface="Arial"/>
                          <a:ea typeface="Arial"/>
                          <a:cs typeface="Arial"/>
                        </a:rPr>
                        <a:t>Tiempo completo</a:t>
                      </a:r>
                    </a:p>
                  </a:txBody>
                  <a:tcPr marL="91440" marR="91440" marT="45720" marB="45720">
                    <a:solidFill>
                      <a:srgbClr val="09263B"/>
                    </a:solidFill>
                  </a:tcPr>
                </a:tc>
                <a:tc>
                  <a:txBody>
                    <a:bodyPr/>
                    <a:lstStyle/>
                    <a:p>
                      <a:r>
                        <a:rPr sz="2025" b="1">
                          <a:solidFill>
                            <a:srgbClr val="FFFFFF"/>
                          </a:solidFill>
                          <a:latin typeface="Arial"/>
                          <a:ea typeface="Arial"/>
                          <a:cs typeface="Arial"/>
                        </a:rPr>
                        <a:t>Inicio</a:t>
                      </a:r>
                    </a:p>
                  </a:txBody>
                  <a:tcPr marL="91440" marR="91440" marT="45720" marB="45720">
                    <a:solidFill>
                      <a:srgbClr val="09263B"/>
                    </a:solidFill>
                  </a:tcPr>
                </a:tc>
                <a:tc>
                  <a:txBody>
                    <a:bodyPr/>
                    <a:lstStyle/>
                    <a:p>
                      <a:r>
                        <a:rPr sz="2025" b="1">
                          <a:solidFill>
                            <a:srgbClr val="FFFFFF"/>
                          </a:solidFill>
                          <a:latin typeface="Arial"/>
                          <a:ea typeface="Arial"/>
                          <a:cs typeface="Arial"/>
                        </a:rPr>
                        <a:t>Regreso</a:t>
                      </a:r>
                    </a:p>
                  </a:txBody>
                  <a:tcPr marL="91440" marR="91440" marT="45720" marB="45720">
                    <a:solidFill>
                      <a:srgbClr val="09263B"/>
                    </a:solidFill>
                  </a:tcPr>
                </a:tc>
              </a:tr>
              <a:tr h="638175">
                <a:tc>
                  <a:txBody>
                    <a:bodyPr/>
                    <a:lstStyle/>
                    <a:p>
                      <a:r>
                        <a:rPr sz="2025" b="0">
                          <a:solidFill>
                            <a:srgbClr val="102E40"/>
                          </a:solidFill>
                          <a:latin typeface="Arial"/>
                          <a:ea typeface="Arial"/>
                          <a:cs typeface="Arial"/>
                        </a:rPr>
                        <a:t>09:30</a:t>
                      </a:r>
                    </a:p>
                  </a:txBody>
                  <a:tcPr marL="91440" marR="91440" marT="45720" marB="45720">
                    <a:solidFill>
                      <a:srgbClr val="FFFFFF"/>
                    </a:solidFill>
                  </a:tcPr>
                </a:tc>
                <a:tc>
                  <a:txBody>
                    <a:bodyPr/>
                    <a:lstStyle/>
                    <a:p>
                      <a:r>
                        <a:rPr sz="2025" b="0">
                          <a:solidFill>
                            <a:srgbClr val="102E40"/>
                          </a:solidFill>
                          <a:latin typeface="Arial"/>
                          <a:ea typeface="Arial"/>
                          <a:cs typeface="Arial"/>
                        </a:rPr>
                        <a:t>2 h 58 min 11 s</a:t>
                      </a:r>
                    </a:p>
                  </a:txBody>
                  <a:tcPr marL="91440" marR="91440" marT="45720" marB="45720">
                    <a:solidFill>
                      <a:srgbClr val="FFFFFF"/>
                    </a:solidFill>
                  </a:tcPr>
                </a:tc>
                <a:tc>
                  <a:txBody>
                    <a:bodyPr/>
                    <a:lstStyle/>
                    <a:p>
                      <a:r>
                        <a:rPr sz="2025" b="0">
                          <a:solidFill>
                            <a:srgbClr val="102E40"/>
                          </a:solidFill>
                          <a:latin typeface="Arial"/>
                          <a:ea typeface="Arial"/>
                          <a:cs typeface="Arial"/>
                        </a:rPr>
                        <a:t>08:09:37</a:t>
                      </a:r>
                    </a:p>
                  </a:txBody>
                  <a:tcPr marL="91440" marR="91440" marT="45720" marB="45720">
                    <a:solidFill>
                      <a:srgbClr val="FFFFFF"/>
                    </a:solidFill>
                  </a:tcPr>
                </a:tc>
                <a:tc>
                  <a:txBody>
                    <a:bodyPr/>
                    <a:lstStyle/>
                    <a:p>
                      <a:r>
                        <a:rPr sz="2025" b="0">
                          <a:solidFill>
                            <a:srgbClr val="102E40"/>
                          </a:solidFill>
                          <a:latin typeface="Arial"/>
                          <a:ea typeface="Arial"/>
                          <a:cs typeface="Arial"/>
                        </a:rPr>
                        <a:t>11:07:48</a:t>
                      </a:r>
                    </a:p>
                  </a:txBody>
                  <a:tcPr marL="91440" marR="91440" marT="45720" marB="45720">
                    <a:solidFill>
                      <a:srgbClr val="FFFFFF"/>
                    </a:solidFill>
                  </a:tcPr>
                </a:tc>
              </a:tr>
              <a:tr h="638175">
                <a:tc>
                  <a:txBody>
                    <a:bodyPr/>
                    <a:lstStyle/>
                    <a:p>
                      <a:r>
                        <a:rPr sz="2025" b="0">
                          <a:solidFill>
                            <a:srgbClr val="102E40"/>
                          </a:solidFill>
                          <a:latin typeface="Arial"/>
                          <a:ea typeface="Arial"/>
                          <a:cs typeface="Arial"/>
                        </a:rPr>
                        <a:t>09:45</a:t>
                      </a:r>
                    </a:p>
                  </a:txBody>
                  <a:tcPr marL="91440" marR="91440" marT="45720" marB="45720">
                    <a:solidFill>
                      <a:srgbClr val="FFFFFF"/>
                    </a:solidFill>
                  </a:tcPr>
                </a:tc>
                <a:tc>
                  <a:txBody>
                    <a:bodyPr/>
                    <a:lstStyle/>
                    <a:p>
                      <a:r>
                        <a:rPr sz="2025" b="0">
                          <a:solidFill>
                            <a:srgbClr val="102E40"/>
                          </a:solidFill>
                          <a:latin typeface="Arial"/>
                          <a:ea typeface="Arial"/>
                          <a:cs typeface="Arial"/>
                        </a:rPr>
                        <a:t>2 h 23 min 11 s</a:t>
                      </a:r>
                    </a:p>
                  </a:txBody>
                  <a:tcPr marL="91440" marR="91440" marT="45720" marB="45720">
                    <a:solidFill>
                      <a:srgbClr val="FFFFFF"/>
                    </a:solidFill>
                  </a:tcPr>
                </a:tc>
                <a:tc>
                  <a:txBody>
                    <a:bodyPr/>
                    <a:lstStyle/>
                    <a:p>
                      <a:r>
                        <a:rPr sz="2025" b="0">
                          <a:solidFill>
                            <a:srgbClr val="102E40"/>
                          </a:solidFill>
                          <a:latin typeface="Arial"/>
                          <a:ea typeface="Arial"/>
                          <a:cs typeface="Arial"/>
                        </a:rPr>
                        <a:t>08:44:37</a:t>
                      </a:r>
                    </a:p>
                  </a:txBody>
                  <a:tcPr marL="91440" marR="91440" marT="45720" marB="45720">
                    <a:solidFill>
                      <a:srgbClr val="FFFFFF"/>
                    </a:solidFill>
                  </a:tcPr>
                </a:tc>
                <a:tc>
                  <a:txBody>
                    <a:bodyPr/>
                    <a:lstStyle/>
                    <a:p>
                      <a:r>
                        <a:rPr sz="2025" b="0">
                          <a:solidFill>
                            <a:srgbClr val="102E40"/>
                          </a:solidFill>
                          <a:latin typeface="Arial"/>
                          <a:ea typeface="Arial"/>
                          <a:cs typeface="Arial"/>
                        </a:rPr>
                        <a:t>11:07:48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47E80C5-6BCC-4BF4-AF17-16C49DBC7405}"/>
              </a:ext>
            </a:extLst>
          </p:cNvPr>
          <p:cNvSpPr>
            <a:spLocks xmlns:a="http://schemas.openxmlformats.org/drawingml/2006/main" noGrp="1"/>
          </p:cNvSpPr>
          <p:nvPr/>
        </p:nvSpPr>
        <p:spPr>
          <a:xfrm xmlns:a="http://schemas.openxmlformats.org/drawingml/2006/main">
            <a:off x="571500" y="46863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087D94"/>
                </a:solidFill>
                <a:latin typeface="Arial"/>
                <a:ea typeface="Arial"/>
                <a:cs typeface="Arial"/>
              </a:defRPr>
            </a:pPr>
            <a:r>
              <a:rPr sz="3675" b="1">
                <a:solidFill>
                  <a:srgbClr val="087D94"/>
                </a:solidFill>
                <a:latin typeface="Arial"/>
                <a:ea typeface="Arial"/>
                <a:cs typeface="Arial"/>
              </a:rPr>
              <a:t>35 minutos menos</a:t>
            </a:r>
          </a:p>
        </p:txBody>
      </p:sp>
      <p:sp>
        <p:nvSpPr>
          <p:cNvPr id="6" name="">
            <a:extLst xmlns:a="http://schemas.openxmlformats.org/drawingml/2006/main">
              <a:ext uri="{FF2B5EF4-FFF2-40B4-BE49-F238E27FC236}">
                <a16:creationId xmlns:a16="http://schemas.microsoft.com/office/drawing/2014/main" id="{CB3EA47C-D6D6-4C46-A35C-1FFE868ACFD6}"/>
              </a:ext>
            </a:extLst>
          </p:cNvPr>
          <p:cNvSpPr>
            <a:spLocks xmlns:a="http://schemas.openxmlformats.org/drawingml/2006/main" noGrp="1"/>
          </p:cNvSpPr>
          <p:nvPr/>
        </p:nvSpPr>
        <p:spPr>
          <a:xfrm xmlns:a="http://schemas.openxmlformats.org/drawingml/2006/main">
            <a:off x="571500" y="5600700"/>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E40"/>
                </a:solidFill>
                <a:latin typeface="Arial"/>
                <a:ea typeface="Arial"/>
                <a:cs typeface="Arial"/>
              </a:defRPr>
            </a:pPr>
            <a:r>
              <a:rPr sz="2025" b="0">
                <a:solidFill>
                  <a:srgbClr val="102E40"/>
                </a:solidFill>
                <a:latin typeface="Arial"/>
                <a:ea typeface="Arial"/>
                <a:cs typeface="Arial"/>
              </a:rPr>
              <a:t>El intervalo empieza 35 minutos después y termina a la misma hora.</a:t>
            </a:r>
          </a:p>
          <a:p xmlns:a="http://schemas.openxmlformats.org/drawingml/2006/main">
            <a:pPr>
              <a:buNone/>
              <a:defRPr sz="2025" b="0">
                <a:solidFill>
                  <a:srgbClr val="102E40"/>
                </a:solidFill>
                <a:latin typeface="Arial"/>
                <a:ea typeface="Arial"/>
                <a:cs typeface="Arial"/>
              </a:defRPr>
            </a:pPr>
            <a:r>
              <a:rPr sz="2025" b="0">
                <a:solidFill>
                  <a:srgbClr val="102E40"/>
                </a:solidFill>
                <a:latin typeface="Arial"/>
                <a:ea typeface="Arial"/>
                <a:cs typeface="Arial"/>
              </a:rPr>
              <a:t>Escenarios programados/modelados. No es un ahorro observado.</a:t>
            </a:r>
          </a:p>
        </p:txBody>
      </p:sp>
    </p:spTree>
    <p:extLst>
      <p:ext uri="{BB962C8B-B14F-4D97-AF65-F5344CB8AC3E}">
        <p14:creationId xmlns:p14="http://schemas.microsoft.com/office/powerpoint/2010/main" val="313469249"/>
      </p:ext>
    </p:extLst>
  </p:cSld>
</p:sld>
</file>

<file path=ppt/slides/slide6.xml><?xml version="1.0" encoding="utf-8"?>
<p:sld xmlns:p="http://schemas.openxmlformats.org/presentationml/2006/main">
  <p:cSld>
    <p:bg>
      <p:bgPr>
        <a:solidFill xmlns:a="http://schemas.openxmlformats.org/drawingml/2006/main">
          <a:srgbClr val="0926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1A7DA3-C46E-42B6-9C9D-706E1FE66EB5}"/>
              </a:ext>
            </a:extLst>
          </p:cNvPr>
          <p:cNvSpPr>
            <a:spLocks xmlns:a="http://schemas.openxmlformats.org/drawingml/2006/main" noGrp="1"/>
          </p:cNvSpPr>
          <p:nvPr/>
        </p:nvSpPr>
        <p:spPr>
          <a:xfrm xmlns:a="http://schemas.openxmlformats.org/drawingml/2006/main">
            <a:off x="571500" y="4572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El agente recalcula otra situación</a:t>
            </a:r>
          </a:p>
        </p:txBody>
      </p:sp>
      <p:sp>
        <p:nvSpPr>
          <p:cNvPr id="2" name="">
            <a:extLst xmlns:a="http://schemas.openxmlformats.org/drawingml/2006/main">
              <a:ext uri="{FF2B5EF4-FFF2-40B4-BE49-F238E27FC236}">
                <a16:creationId xmlns:a16="http://schemas.microsoft.com/office/drawing/2014/main" id="{04993E27-6E03-46D7-8A27-D6CC87D78CF6}"/>
              </a:ext>
            </a:extLst>
          </p:cNvPr>
          <p:cNvSpPr>
            <a:spLocks xmlns:a="http://schemas.openxmlformats.org/drawingml/2006/main" noGrp="1"/>
          </p:cNvSpPr>
          <p:nvPr/>
        </p:nvSpPr>
        <p:spPr>
          <a:xfrm xmlns:a="http://schemas.openxmlformats.org/drawingml/2006/main">
            <a:off x="11125200"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BDCFD9"/>
                </a:solidFill>
                <a:latin typeface="Arial"/>
                <a:ea typeface="Arial"/>
                <a:cs typeface="Arial"/>
              </a:defRPr>
            </a:pPr>
            <a:r>
              <a:rPr sz="1200" b="0">
                <a:solidFill>
                  <a:srgbClr val="BDCFD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7119196-09FB-4821-995E-DE1B94DBCA5E}"/>
              </a:ext>
            </a:extLst>
          </p:cNvPr>
          <p:cNvSpPr>
            <a:spLocks xmlns:a="http://schemas.openxmlformats.org/drawingml/2006/main" noGrp="1"/>
          </p:cNvSpPr>
          <p:nvPr/>
        </p:nvSpPr>
        <p:spPr>
          <a:xfrm xmlns:a="http://schemas.openxmlformats.org/drawingml/2006/main">
            <a:off x="571500" y="164782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69DAEC"/>
                </a:solidFill>
                <a:latin typeface="Arial"/>
                <a:ea typeface="Arial"/>
                <a:cs typeface="Arial"/>
              </a:defRPr>
            </a:pPr>
            <a:r>
              <a:rPr sz="2325" b="0">
                <a:solidFill>
                  <a:srgbClr val="69DAEC"/>
                </a:solidFill>
                <a:latin typeface="Arial"/>
                <a:ea typeface="Arial"/>
                <a:cs typeface="Arial"/>
              </a:rPr>
              <a:t>Segura / Beasain / 29/09/2026 / consulta de 30 minutos</a:t>
            </a:r>
          </a:p>
        </p:txBody>
      </p:sp>
      <p:sp>
        <p:nvSpPr>
          <p:cNvPr id="4" name="">
            <a:extLst xmlns:a="http://schemas.openxmlformats.org/drawingml/2006/main">
              <a:ext uri="{FF2B5EF4-FFF2-40B4-BE49-F238E27FC236}">
                <a16:creationId xmlns:a16="http://schemas.microsoft.com/office/drawing/2014/main" id="{B576C1EB-FAB5-4FF2-A6B4-6FC7465F5F22}"/>
              </a:ext>
            </a:extLst>
          </p:cNvPr>
          <p:cNvSpPr>
            <a:spLocks xmlns:a="http://schemas.openxmlformats.org/drawingml/2006/main" noGrp="1"/>
          </p:cNvSpPr>
          <p:nvPr/>
        </p:nvSpPr>
        <p:spPr>
          <a:xfrm xmlns:a="http://schemas.openxmlformats.org/drawingml/2006/main">
            <a:off x="571500" y="27432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10:00</a:t>
            </a:r>
          </a:p>
        </p:txBody>
      </p:sp>
      <p:sp>
        <p:nvSpPr>
          <p:cNvPr id="5" name="">
            <a:extLst xmlns:a="http://schemas.openxmlformats.org/drawingml/2006/main">
              <a:ext uri="{FF2B5EF4-FFF2-40B4-BE49-F238E27FC236}">
                <a16:creationId xmlns:a16="http://schemas.microsoft.com/office/drawing/2014/main" id="{9839C1BA-F1DF-492E-A088-2E2AD3BEAA83}"/>
              </a:ext>
            </a:extLst>
          </p:cNvPr>
          <p:cNvSpPr>
            <a:spLocks xmlns:a="http://schemas.openxmlformats.org/drawingml/2006/main" noGrp="1"/>
          </p:cNvSpPr>
          <p:nvPr/>
        </p:nvSpPr>
        <p:spPr>
          <a:xfrm xmlns:a="http://schemas.openxmlformats.org/drawingml/2006/main">
            <a:off x="571500" y="36004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2 h 35 min 23 s</a:t>
            </a:r>
          </a:p>
        </p:txBody>
      </p:sp>
      <p:sp>
        <p:nvSpPr>
          <p:cNvPr id="6" name="">
            <a:extLst xmlns:a="http://schemas.openxmlformats.org/drawingml/2006/main">
              <a:ext uri="{FF2B5EF4-FFF2-40B4-BE49-F238E27FC236}">
                <a16:creationId xmlns:a16="http://schemas.microsoft.com/office/drawing/2014/main" id="{BFD6C033-0280-41C3-935A-34288F88D1EF}"/>
              </a:ext>
            </a:extLst>
          </p:cNvPr>
          <p:cNvSpPr>
            <a:spLocks xmlns:a="http://schemas.openxmlformats.org/drawingml/2006/main" noGrp="1"/>
          </p:cNvSpPr>
          <p:nvPr/>
        </p:nvSpPr>
        <p:spPr>
          <a:xfrm xmlns:a="http://schemas.openxmlformats.org/drawingml/2006/main">
            <a:off x="6629400" y="27432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10:15</a:t>
            </a:r>
          </a:p>
        </p:txBody>
      </p:sp>
      <p:sp>
        <p:nvSpPr>
          <p:cNvPr id="7" name="">
            <a:extLst xmlns:a="http://schemas.openxmlformats.org/drawingml/2006/main">
              <a:ext uri="{FF2B5EF4-FFF2-40B4-BE49-F238E27FC236}">
                <a16:creationId xmlns:a16="http://schemas.microsoft.com/office/drawing/2014/main" id="{0A2179C2-53BE-4EB4-9C93-9FDAF2933198}"/>
              </a:ext>
            </a:extLst>
          </p:cNvPr>
          <p:cNvSpPr>
            <a:spLocks xmlns:a="http://schemas.openxmlformats.org/drawingml/2006/main" noGrp="1"/>
          </p:cNvSpPr>
          <p:nvPr/>
        </p:nvSpPr>
        <p:spPr>
          <a:xfrm xmlns:a="http://schemas.openxmlformats.org/drawingml/2006/main">
            <a:off x="6629400" y="36004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3 h 5 min 23 s</a:t>
            </a:r>
          </a:p>
        </p:txBody>
      </p:sp>
      <p:sp>
        <p:nvSpPr>
          <p:cNvPr id="8" name="">
            <a:extLst xmlns:a="http://schemas.openxmlformats.org/drawingml/2006/main">
              <a:ext uri="{FF2B5EF4-FFF2-40B4-BE49-F238E27FC236}">
                <a16:creationId xmlns:a16="http://schemas.microsoft.com/office/drawing/2014/main" id="{D39BCBCC-F21E-47F0-BC15-82AADEBB4D53}"/>
              </a:ext>
            </a:extLst>
          </p:cNvPr>
          <p:cNvSpPr>
            <a:spLocks xmlns:a="http://schemas.openxmlformats.org/drawingml/2006/main" noGrp="1"/>
          </p:cNvSpPr>
          <p:nvPr/>
        </p:nvSpPr>
        <p:spPr>
          <a:xfrm xmlns:a="http://schemas.openxmlformats.org/drawingml/2006/main">
            <a:off x="571500" y="49815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69DAEC"/>
                </a:solidFill>
                <a:latin typeface="Arial"/>
                <a:ea typeface="Arial"/>
                <a:cs typeface="Arial"/>
              </a:defRPr>
            </a:pPr>
            <a:r>
              <a:rPr sz="2925" b="1">
                <a:solidFill>
                  <a:srgbClr val="69DAEC"/>
                </a:solidFill>
                <a:latin typeface="Arial"/>
                <a:ea typeface="Arial"/>
                <a:cs typeface="Arial"/>
              </a:rPr>
              <a:t>30 minutos más de intervalo completo</a:t>
            </a:r>
          </a:p>
        </p:txBody>
      </p:sp>
      <p:sp>
        <p:nvSpPr>
          <p:cNvPr id="9" name="">
            <a:extLst xmlns:a="http://schemas.openxmlformats.org/drawingml/2006/main">
              <a:ext uri="{FF2B5EF4-FFF2-40B4-BE49-F238E27FC236}">
                <a16:creationId xmlns:a16="http://schemas.microsoft.com/office/drawing/2014/main" id="{81FACA14-517A-4C6E-AC4E-C7CC66D60BA0}"/>
              </a:ext>
            </a:extLst>
          </p:cNvPr>
          <p:cNvSpPr>
            <a:spLocks xmlns:a="http://schemas.openxmlformats.org/drawingml/2006/main" noGrp="1"/>
          </p:cNvSpPr>
          <p:nvPr/>
        </p:nvSpPr>
        <p:spPr>
          <a:xfrm xmlns:a="http://schemas.openxmlformats.org/drawingml/2006/main">
            <a:off x="571500" y="58674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DCFD9"/>
                </a:solidFill>
                <a:latin typeface="Arial"/>
                <a:ea typeface="Arial"/>
                <a:cs typeface="Arial"/>
              </a:defRPr>
            </a:pPr>
            <a:r>
              <a:rPr sz="2025" b="0">
                <a:solidFill>
                  <a:srgbClr val="BDCFD9"/>
                </a:solidFill>
                <a:latin typeface="Arial"/>
                <a:ea typeface="Arial"/>
                <a:cs typeface="Arial"/>
              </a:rPr>
              <a:t>El regreso pasa de 11:27:56 a 12:27:56 según el horario programado.</a:t>
            </a:r>
          </a:p>
        </p:txBody>
      </p:sp>
    </p:spTree>
    <p:extLst>
      <p:ext uri="{BB962C8B-B14F-4D97-AF65-F5344CB8AC3E}">
        <p14:creationId xmlns:p14="http://schemas.microsoft.com/office/powerpoint/2010/main" val="4580727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828C8F-8FAA-444C-A7CD-1F8D5FD732D6}"/>
              </a:ext>
            </a:extLst>
          </p:cNvPr>
          <p:cNvSpPr>
            <a:spLocks xmlns:a="http://schemas.openxmlformats.org/drawingml/2006/main" noGrp="1"/>
          </p:cNvSpPr>
          <p:nvPr/>
        </p:nvSpPr>
        <p:spPr>
          <a:xfrm xmlns:a="http://schemas.openxmlformats.org/drawingml/2006/main">
            <a:off x="571500" y="4572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02E40"/>
                </a:solidFill>
                <a:latin typeface="Arial"/>
                <a:ea typeface="Arial"/>
                <a:cs typeface="Arial"/>
              </a:defRPr>
            </a:pPr>
            <a:r>
              <a:rPr sz="3300" b="1">
                <a:solidFill>
                  <a:srgbClr val="102E40"/>
                </a:solidFill>
                <a:latin typeface="Arial"/>
                <a:ea typeface="Arial"/>
                <a:cs typeface="Arial"/>
              </a:rPr>
              <a:t>Cada cifra conserva su procedencia</a:t>
            </a:r>
          </a:p>
        </p:txBody>
      </p:sp>
      <p:sp>
        <p:nvSpPr>
          <p:cNvPr id="2" name="">
            <a:extLst xmlns:a="http://schemas.openxmlformats.org/drawingml/2006/main">
              <a:ext uri="{FF2B5EF4-FFF2-40B4-BE49-F238E27FC236}">
                <a16:creationId xmlns:a16="http://schemas.microsoft.com/office/drawing/2014/main" id="{73E84994-C4AF-4488-A068-E1832C5DCDF1}"/>
              </a:ext>
            </a:extLst>
          </p:cNvPr>
          <p:cNvSpPr>
            <a:spLocks xmlns:a="http://schemas.openxmlformats.org/drawingml/2006/main" noGrp="1"/>
          </p:cNvSpPr>
          <p:nvPr/>
        </p:nvSpPr>
        <p:spPr>
          <a:xfrm xmlns:a="http://schemas.openxmlformats.org/drawingml/2006/main">
            <a:off x="11125200"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102E40"/>
                </a:solidFill>
                <a:latin typeface="Arial"/>
                <a:ea typeface="Arial"/>
                <a:cs typeface="Arial"/>
              </a:defRPr>
            </a:pPr>
            <a:r>
              <a:rPr sz="1200" b="0">
                <a:solidFill>
                  <a:srgbClr val="102E4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435CA97-2D6A-4F56-A2A1-368766F0A03D}"/>
              </a:ext>
            </a:extLst>
          </p:cNvPr>
          <p:cNvSpPr>
            <a:spLocks xmlns:a="http://schemas.openxmlformats.org/drawingml/2006/main" noGrp="1"/>
          </p:cNvSpPr>
          <p:nvPr/>
        </p:nvSpPr>
        <p:spPr>
          <a:xfrm xmlns:a="http://schemas.openxmlformats.org/drawingml/2006/main">
            <a:off x="571500" y="184785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02E40"/>
                </a:solidFill>
                <a:latin typeface="Arial"/>
                <a:ea typeface="Arial"/>
                <a:cs typeface="Arial"/>
              </a:defRPr>
            </a:pPr>
            <a:r>
              <a:rPr sz="2550" b="1">
                <a:solidFill>
                  <a:srgbClr val="102E40"/>
                </a:solidFill>
                <a:latin typeface="Arial"/>
                <a:ea typeface="Arial"/>
                <a:cs typeface="Arial"/>
              </a:rPr>
              <a:t>Autobús</a:t>
            </a:r>
          </a:p>
        </p:txBody>
      </p:sp>
      <p:sp>
        <p:nvSpPr>
          <p:cNvPr id="4" name="">
            <a:extLst xmlns:a="http://schemas.openxmlformats.org/drawingml/2006/main">
              <a:ext uri="{FF2B5EF4-FFF2-40B4-BE49-F238E27FC236}">
                <a16:creationId xmlns:a16="http://schemas.microsoft.com/office/drawing/2014/main" id="{FCB4F91C-6232-4FC9-AD41-5BAF0F164BF0}"/>
              </a:ext>
            </a:extLst>
          </p:cNvPr>
          <p:cNvSpPr>
            <a:spLocks xmlns:a="http://schemas.openxmlformats.org/drawingml/2006/main" noGrp="1"/>
          </p:cNvSpPr>
          <p:nvPr/>
        </p:nvSpPr>
        <p:spPr>
          <a:xfrm xmlns:a="http://schemas.openxmlformats.org/drawingml/2006/main">
            <a:off x="3381375" y="1847850"/>
            <a:ext cx="8143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02E40"/>
                </a:solidFill>
                <a:latin typeface="Arial"/>
                <a:ea typeface="Arial"/>
                <a:cs typeface="Arial"/>
              </a:defRPr>
            </a:pPr>
            <a:r>
              <a:rPr sz="2175" b="0">
                <a:solidFill>
                  <a:srgbClr val="102E40"/>
                </a:solidFill>
                <a:latin typeface="Arial"/>
                <a:ea typeface="Arial"/>
                <a:cs typeface="Arial"/>
              </a:rPr>
              <a:t>Moveuskadi / Goierrialdea</a:t>
            </a:r>
          </a:p>
          <a:p xmlns:a="http://schemas.openxmlformats.org/drawingml/2006/main">
            <a:pPr>
              <a:buNone/>
              <a:defRPr sz="2175" b="0">
                <a:solidFill>
                  <a:srgbClr val="102E40"/>
                </a:solidFill>
                <a:latin typeface="Arial"/>
                <a:ea typeface="Arial"/>
                <a:cs typeface="Arial"/>
              </a:defRPr>
            </a:pPr>
            <a:r>
              <a:rPr sz="2175" b="0">
                <a:solidFill>
                  <a:srgbClr val="102E40"/>
                </a:solidFill>
                <a:latin typeface="Arial"/>
                <a:ea typeface="Arial"/>
                <a:cs typeface="Arial"/>
              </a:rPr>
              <a:t>Horario válido del 28/09 al 27/12/2026</a:t>
            </a:r>
          </a:p>
        </p:txBody>
      </p:sp>
      <p:sp>
        <p:nvSpPr>
          <p:cNvPr id="5" name="">
            <a:extLst xmlns:a="http://schemas.openxmlformats.org/drawingml/2006/main">
              <a:ext uri="{FF2B5EF4-FFF2-40B4-BE49-F238E27FC236}">
                <a16:creationId xmlns:a16="http://schemas.microsoft.com/office/drawing/2014/main" id="{0C44053F-7CBF-44D0-8B1C-C3A19D62EE2F}"/>
              </a:ext>
            </a:extLst>
          </p:cNvPr>
          <p:cNvSpPr>
            <a:spLocks xmlns:a="http://schemas.openxmlformats.org/drawingml/2006/main" noGrp="1"/>
          </p:cNvSpPr>
          <p:nvPr/>
        </p:nvSpPr>
        <p:spPr>
          <a:xfrm xmlns:a="http://schemas.openxmlformats.org/drawingml/2006/main">
            <a:off x="571500" y="311467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02E40"/>
                </a:solidFill>
                <a:latin typeface="Arial"/>
                <a:ea typeface="Arial"/>
                <a:cs typeface="Arial"/>
              </a:defRPr>
            </a:pPr>
            <a:r>
              <a:rPr sz="2550" b="1">
                <a:solidFill>
                  <a:srgbClr val="102E40"/>
                </a:solidFill>
                <a:latin typeface="Arial"/>
                <a:ea typeface="Arial"/>
                <a:cs typeface="Arial"/>
              </a:rPr>
              <a:t>Centro</a:t>
            </a:r>
          </a:p>
        </p:txBody>
      </p:sp>
      <p:sp>
        <p:nvSpPr>
          <p:cNvPr id="6" name="">
            <a:extLst xmlns:a="http://schemas.openxmlformats.org/drawingml/2006/main">
              <a:ext uri="{FF2B5EF4-FFF2-40B4-BE49-F238E27FC236}">
                <a16:creationId xmlns:a16="http://schemas.microsoft.com/office/drawing/2014/main" id="{A7D43BE2-CB30-4D10-BD51-1B05CE96C6B7}"/>
              </a:ext>
            </a:extLst>
          </p:cNvPr>
          <p:cNvSpPr>
            <a:spLocks xmlns:a="http://schemas.openxmlformats.org/drawingml/2006/main" noGrp="1"/>
          </p:cNvSpPr>
          <p:nvPr/>
        </p:nvSpPr>
        <p:spPr>
          <a:xfrm xmlns:a="http://schemas.openxmlformats.org/drawingml/2006/main">
            <a:off x="3381375" y="3114675"/>
            <a:ext cx="8143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02E40"/>
                </a:solidFill>
                <a:latin typeface="Arial"/>
                <a:ea typeface="Arial"/>
                <a:cs typeface="Arial"/>
              </a:defRPr>
            </a:pPr>
            <a:r>
              <a:rPr sz="2175" b="0">
                <a:solidFill>
                  <a:srgbClr val="102E40"/>
                </a:solidFill>
                <a:latin typeface="Arial"/>
                <a:ea typeface="Arial"/>
                <a:cs typeface="Arial"/>
              </a:rPr>
              <a:t>Open Data Euskadi: 20/09/2026</a:t>
            </a:r>
          </a:p>
          <a:p xmlns:a="http://schemas.openxmlformats.org/drawingml/2006/main">
            <a:pPr>
              <a:buNone/>
              <a:defRPr sz="2175" b="0">
                <a:solidFill>
                  <a:srgbClr val="102E40"/>
                </a:solidFill>
                <a:latin typeface="Arial"/>
                <a:ea typeface="Arial"/>
                <a:cs typeface="Arial"/>
              </a:defRPr>
            </a:pPr>
            <a:r>
              <a:rPr sz="2175" b="0">
                <a:solidFill>
                  <a:srgbClr val="102E40"/>
                </a:solidFill>
                <a:latin typeface="Arial"/>
                <a:ea typeface="Arial"/>
                <a:cs typeface="Arial"/>
              </a:rPr>
              <a:t>Ficha de Osakidetza consultada el 29/09/2026</a:t>
            </a:r>
          </a:p>
        </p:txBody>
      </p:sp>
      <p:sp>
        <p:nvSpPr>
          <p:cNvPr id="7" name="">
            <a:extLst xmlns:a="http://schemas.openxmlformats.org/drawingml/2006/main">
              <a:ext uri="{FF2B5EF4-FFF2-40B4-BE49-F238E27FC236}">
                <a16:creationId xmlns:a16="http://schemas.microsoft.com/office/drawing/2014/main" id="{3834D30E-6FAE-4DD3-B682-4964117881C7}"/>
              </a:ext>
            </a:extLst>
          </p:cNvPr>
          <p:cNvSpPr>
            <a:spLocks xmlns:a="http://schemas.openxmlformats.org/drawingml/2006/main" noGrp="1"/>
          </p:cNvSpPr>
          <p:nvPr/>
        </p:nvSpPr>
        <p:spPr>
          <a:xfrm xmlns:a="http://schemas.openxmlformats.org/drawingml/2006/main">
            <a:off x="571500" y="43910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02E40"/>
                </a:solidFill>
                <a:latin typeface="Arial"/>
                <a:ea typeface="Arial"/>
                <a:cs typeface="Arial"/>
              </a:defRPr>
            </a:pPr>
            <a:r>
              <a:rPr sz="2550" b="1">
                <a:solidFill>
                  <a:srgbClr val="102E40"/>
                </a:solidFill>
                <a:latin typeface="Arial"/>
                <a:ea typeface="Arial"/>
                <a:cs typeface="Arial"/>
              </a:rPr>
              <a:t>Paseo</a:t>
            </a:r>
          </a:p>
        </p:txBody>
      </p:sp>
      <p:sp>
        <p:nvSpPr>
          <p:cNvPr id="8" name="">
            <a:extLst xmlns:a="http://schemas.openxmlformats.org/drawingml/2006/main">
              <a:ext uri="{FF2B5EF4-FFF2-40B4-BE49-F238E27FC236}">
                <a16:creationId xmlns:a16="http://schemas.microsoft.com/office/drawing/2014/main" id="{EFBAC29C-15EA-45F0-829A-342E79BE4C25}"/>
              </a:ext>
            </a:extLst>
          </p:cNvPr>
          <p:cNvSpPr>
            <a:spLocks xmlns:a="http://schemas.openxmlformats.org/drawingml/2006/main" noGrp="1"/>
          </p:cNvSpPr>
          <p:nvPr/>
        </p:nvSpPr>
        <p:spPr>
          <a:xfrm xmlns:a="http://schemas.openxmlformats.org/drawingml/2006/main">
            <a:off x="3381375" y="43910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02E40"/>
                </a:solidFill>
                <a:latin typeface="Arial"/>
                <a:ea typeface="Arial"/>
                <a:cs typeface="Arial"/>
              </a:defRPr>
            </a:pPr>
            <a:r>
              <a:rPr sz="2175" b="0">
                <a:solidFill>
                  <a:srgbClr val="102E40"/>
                </a:solidFill>
                <a:latin typeface="Arial"/>
                <a:ea typeface="Arial"/>
                <a:cs typeface="Arial"/>
              </a:rPr>
              <a:t>Red OpenStreetMap adquirida el 29/09/2026</a:t>
            </a:r>
          </a:p>
          <a:p xmlns:a="http://schemas.openxmlformats.org/drawingml/2006/main">
            <a:pPr>
              <a:buNone/>
              <a:defRPr sz="2175" b="0">
                <a:solidFill>
                  <a:srgbClr val="102E40"/>
                </a:solidFill>
                <a:latin typeface="Arial"/>
                <a:ea typeface="Arial"/>
                <a:cs typeface="Arial"/>
              </a:defRPr>
            </a:pPr>
            <a:r>
              <a:rPr sz="2175" b="0">
                <a:solidFill>
                  <a:srgbClr val="102E40"/>
                </a:solidFill>
                <a:latin typeface="Arial"/>
                <a:ea typeface="Arial"/>
                <a:cs typeface="Arial"/>
              </a:rPr>
              <a:t>Velocidad y márgenes: supuestos del modelo</a:t>
            </a:r>
          </a:p>
        </p:txBody>
      </p:sp>
      <p:sp>
        <p:nvSpPr>
          <p:cNvPr id="9" name="">
            <a:extLst xmlns:a="http://schemas.openxmlformats.org/drawingml/2006/main">
              <a:ext uri="{FF2B5EF4-FFF2-40B4-BE49-F238E27FC236}">
                <a16:creationId xmlns:a16="http://schemas.microsoft.com/office/drawing/2014/main" id="{9C8519AF-4E26-49E9-99EB-E6192ACE8556}"/>
              </a:ext>
            </a:extLst>
          </p:cNvPr>
          <p:cNvSpPr>
            <a:spLocks xmlns:a="http://schemas.openxmlformats.org/drawingml/2006/main" noGrp="1"/>
          </p:cNvSpPr>
          <p:nvPr/>
        </p:nvSpPr>
        <p:spPr>
          <a:xfrm xmlns:a="http://schemas.openxmlformats.org/drawingml/2006/main">
            <a:off x="571500" y="58388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87D94"/>
                </a:solidFill>
                <a:latin typeface="Arial"/>
                <a:ea typeface="Arial"/>
                <a:cs typeface="Arial"/>
              </a:defRPr>
            </a:pPr>
            <a:r>
              <a:rPr sz="2100" b="0">
                <a:solidFill>
                  <a:srgbClr val="087D94"/>
                </a:solidFill>
                <a:latin typeface="Arial"/>
                <a:ea typeface="Arial"/>
                <a:cs typeface="Arial"/>
              </a:rPr>
              <a:t>Las fechas y los supuestos permanecen separados en la respuesta.</a:t>
            </a:r>
          </a:p>
        </p:txBody>
      </p:sp>
    </p:spTree>
    <p:extLst>
      <p:ext uri="{BB962C8B-B14F-4D97-AF65-F5344CB8AC3E}">
        <p14:creationId xmlns:p14="http://schemas.microsoft.com/office/powerpoint/2010/main" val="605488731"/>
      </p:ext>
    </p:extLst>
  </p:cSld>
</p:sld>
</file>

<file path=ppt/slides/slide8.xml><?xml version="1.0" encoding="utf-8"?>
<p:sld xmlns:p="http://schemas.openxmlformats.org/presentationml/2006/main">
  <p:cSld>
    <p:bg>
      <p:bgPr>
        <a:solidFill xmlns:a="http://schemas.openxmlformats.org/drawingml/2006/main">
          <a:srgbClr val="0926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ECB255-7C2E-466F-9C47-94FD027BE06C}"/>
              </a:ext>
            </a:extLst>
          </p:cNvPr>
          <p:cNvSpPr>
            <a:spLocks xmlns:a="http://schemas.openxmlformats.org/drawingml/2006/main" noGrp="1"/>
          </p:cNvSpPr>
          <p:nvPr/>
        </p:nvSpPr>
        <p:spPr>
          <a:xfrm xmlns:a="http://schemas.openxmlformats.org/drawingml/2006/main">
            <a:off x="571500" y="457200"/>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Una ayuda para investigar con límites</a:t>
            </a:r>
          </a:p>
        </p:txBody>
      </p:sp>
      <p:sp>
        <p:nvSpPr>
          <p:cNvPr id="2" name="">
            <a:extLst xmlns:a="http://schemas.openxmlformats.org/drawingml/2006/main">
              <a:ext uri="{FF2B5EF4-FFF2-40B4-BE49-F238E27FC236}">
                <a16:creationId xmlns:a16="http://schemas.microsoft.com/office/drawing/2014/main" id="{19B4B7FF-8DE8-4737-AFDF-9BFE2F53F09B}"/>
              </a:ext>
            </a:extLst>
          </p:cNvPr>
          <p:cNvSpPr>
            <a:spLocks xmlns:a="http://schemas.openxmlformats.org/drawingml/2006/main" noGrp="1"/>
          </p:cNvSpPr>
          <p:nvPr/>
        </p:nvSpPr>
        <p:spPr>
          <a:xfrm xmlns:a="http://schemas.openxmlformats.org/drawingml/2006/main">
            <a:off x="11125200"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BDCFD9"/>
                </a:solidFill>
                <a:latin typeface="Arial"/>
                <a:ea typeface="Arial"/>
                <a:cs typeface="Arial"/>
              </a:defRPr>
            </a:pPr>
            <a:r>
              <a:rPr sz="1200" b="0">
                <a:solidFill>
                  <a:srgbClr val="BDCFD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9833B9C-49EC-46BA-AB19-433CB3BA673A}"/>
              </a:ext>
            </a:extLst>
          </p:cNvPr>
          <p:cNvSpPr>
            <a:spLocks xmlns:a="http://schemas.openxmlformats.org/drawingml/2006/main" noGrp="1"/>
          </p:cNvSpPr>
          <p:nvPr/>
        </p:nvSpPr>
        <p:spPr>
          <a:xfrm xmlns:a="http://schemas.openxmlformats.org/drawingml/2006/main">
            <a:off x="571500" y="17526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69DAEC"/>
                </a:solidFill>
                <a:latin typeface="Arial"/>
                <a:ea typeface="Arial"/>
                <a:cs typeface="Arial"/>
              </a:defRPr>
            </a:pPr>
            <a:r>
              <a:rPr sz="2625" b="1">
                <a:solidFill>
                  <a:srgbClr val="69DAEC"/>
                </a:solidFill>
                <a:latin typeface="Arial"/>
                <a:ea typeface="Arial"/>
                <a:cs typeface="Arial"/>
              </a:rPr>
              <a:t>Pregunta natural</a:t>
            </a:r>
          </a:p>
        </p:txBody>
      </p:sp>
      <p:sp>
        <p:nvSpPr>
          <p:cNvPr id="4" name="">
            <a:extLst xmlns:a="http://schemas.openxmlformats.org/drawingml/2006/main">
              <a:ext uri="{FF2B5EF4-FFF2-40B4-BE49-F238E27FC236}">
                <a16:creationId xmlns:a16="http://schemas.microsoft.com/office/drawing/2014/main" id="{5129D5B8-754B-4867-877B-7F23AA1FAB89}"/>
              </a:ext>
            </a:extLst>
          </p:cNvPr>
          <p:cNvSpPr>
            <a:spLocks xmlns:a="http://schemas.openxmlformats.org/drawingml/2006/main" noGrp="1"/>
          </p:cNvSpPr>
          <p:nvPr/>
        </p:nvSpPr>
        <p:spPr>
          <a:xfrm xmlns:a="http://schemas.openxmlformats.org/drawingml/2006/main">
            <a:off x="571500" y="24193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El agente consulta herramientas deterministas</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y explica sus comparaciones y resultados.</a:t>
            </a:r>
          </a:p>
        </p:txBody>
      </p:sp>
      <p:sp>
        <p:nvSpPr>
          <p:cNvPr id="5" name="">
            <a:extLst xmlns:a="http://schemas.openxmlformats.org/drawingml/2006/main">
              <a:ext uri="{FF2B5EF4-FFF2-40B4-BE49-F238E27FC236}">
                <a16:creationId xmlns:a16="http://schemas.microsoft.com/office/drawing/2014/main" id="{4517EBA4-B6FB-4FF0-BBC3-EF254A89F484}"/>
              </a:ext>
            </a:extLst>
          </p:cNvPr>
          <p:cNvSpPr>
            <a:spLocks xmlns:a="http://schemas.openxmlformats.org/drawingml/2006/main" noGrp="1"/>
          </p:cNvSpPr>
          <p:nvPr/>
        </p:nvSpPr>
        <p:spPr>
          <a:xfrm xmlns:a="http://schemas.openxmlformats.org/drawingml/2006/main">
            <a:off x="571500" y="382905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No confirma citas ni decide la mejor hora para una persona.</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No calcula desde casa ni garantiza una entrada accesible.</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Los tiempos dependen del horario y de supuestos de paseo.</a:t>
            </a:r>
          </a:p>
        </p:txBody>
      </p:sp>
      <p:sp>
        <p:nvSpPr>
          <p:cNvPr id="6" name="">
            <a:extLst xmlns:a="http://schemas.openxmlformats.org/drawingml/2006/main">
              <a:ext uri="{FF2B5EF4-FFF2-40B4-BE49-F238E27FC236}">
                <a16:creationId xmlns:a16="http://schemas.microsoft.com/office/drawing/2014/main" id="{C12C025E-EAEF-439D-BD7E-8706E9627C27}"/>
              </a:ext>
            </a:extLst>
          </p:cNvPr>
          <p:cNvSpPr>
            <a:spLocks xmlns:a="http://schemas.openxmlformats.org/drawingml/2006/main" noGrp="1"/>
          </p:cNvSpPr>
          <p:nvPr/>
        </p:nvSpPr>
        <p:spPr>
          <a:xfrm xmlns:a="http://schemas.openxmlformats.org/drawingml/2006/main">
            <a:off x="571500" y="57435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BDCFD9"/>
                </a:solidFill>
                <a:latin typeface="Arial"/>
                <a:ea typeface="Arial"/>
                <a:cs typeface="Arial"/>
              </a:defRPr>
            </a:pPr>
            <a:r>
              <a:rPr sz="1725" b="0">
                <a:solidFill>
                  <a:srgbClr val="BDCFD9"/>
                </a:solidFill>
                <a:latin typeface="Arial"/>
                <a:ea typeface="Arial"/>
                <a:cs typeface="Arial"/>
              </a:rPr>
              <a:t>Visualización territorial: asier-comba.github.io/Guipuzkoa360/</a:t>
            </a:r>
          </a:p>
          <a:p xmlns:a="http://schemas.openxmlformats.org/drawingml/2006/main">
            <a:pPr>
              <a:buNone/>
              <a:defRPr sz="1725" b="0">
                <a:solidFill>
                  <a:srgbClr val="BDCFD9"/>
                </a:solidFill>
                <a:latin typeface="Arial"/>
                <a:ea typeface="Arial"/>
                <a:cs typeface="Arial"/>
              </a:defRPr>
            </a:pPr>
            <a:r>
              <a:rPr sz="1725" b="0">
                <a:solidFill>
                  <a:srgbClr val="BDCFD9"/>
                </a:solidFill>
                <a:latin typeface="Arial"/>
                <a:ea typeface="Arial"/>
                <a:cs typeface="Arial"/>
              </a:rPr>
              <a:t>Código y metodología: github.com/Asier-Comba/Guipuzkoa360</a:t>
            </a:r>
          </a:p>
        </p:txBody>
      </p:sp>
    </p:spTree>
    <p:extLst>
      <p:ext uri="{BB962C8B-B14F-4D97-AF65-F5344CB8AC3E}">
        <p14:creationId xmlns:p14="http://schemas.microsoft.com/office/powerpoint/2010/main" val="16426518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2026-10-04T09:24:46.4130000Z</dcterms:created>
  <dcterms:modified xsi:type="dcterms:W3CDTF">2026-10-04T09:24:46.4130000Z</dcterms:modified>
</coreProperties>
</file>