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2096d69f2a4227" /><Relationship Type="http://schemas.openxmlformats.org/officeDocument/2006/relationships/extended-properties" Target="/docProps/app.xml" Id="Radff146852184d58" /><Relationship Type="http://schemas.openxmlformats.org/officeDocument/2006/relationships/officeDocument" Target="/ppt/presentation.xml" Id="R3cdc24280ab747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a31d7aca4947cd"/>
  </p:sldMasterIdLst>
  <p:notesMasterIdLst>
    <p:notesMasterId xmlns:r="http://schemas.openxmlformats.org/officeDocument/2006/relationships" r:id="R84d03c7e99744a5d"/>
  </p:notesMasterIdLst>
  <p:sldIdLst>
    <p:sldId xmlns:r="http://schemas.openxmlformats.org/officeDocument/2006/relationships" id="256" r:id="Ra00ecb84f4c54e85"/>
    <p:sldId xmlns:r="http://schemas.openxmlformats.org/officeDocument/2006/relationships" id="257" r:id="R77898303686c4cfd"/>
    <p:sldId xmlns:r="http://schemas.openxmlformats.org/officeDocument/2006/relationships" id="258" r:id="Rae7979f5f2dc4e77"/>
    <p:sldId xmlns:r="http://schemas.openxmlformats.org/officeDocument/2006/relationships" id="259" r:id="R0e174f5226794fc7"/>
    <p:sldId xmlns:r="http://schemas.openxmlformats.org/officeDocument/2006/relationships" id="260" r:id="R380cbef8bf7f4c76"/>
    <p:sldId xmlns:r="http://schemas.openxmlformats.org/officeDocument/2006/relationships" id="261" r:id="R1c67ebc87bc34081"/>
    <p:sldId xmlns:r="http://schemas.openxmlformats.org/officeDocument/2006/relationships" id="262" r:id="R2a57ef5c6cec4a75"/>
    <p:sldId xmlns:r="http://schemas.openxmlformats.org/officeDocument/2006/relationships" id="263" r:id="Rc909ee51b3a04d2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182b250de84292" /><Relationship Type="http://schemas.openxmlformats.org/officeDocument/2006/relationships/slideMaster" Target="/ppt/slideMasters/slideMaster1.xml" Id="Rb6a31d7aca4947cd" /><Relationship Type="http://schemas.openxmlformats.org/officeDocument/2006/relationships/notesMaster" Target="/ppt/notesMasters/notesMaster1.xml" Id="R84d03c7e99744a5d" /><Relationship Type="http://schemas.openxmlformats.org/officeDocument/2006/relationships/presProps" Target="/ppt/presProps.xml" Id="R84149f199ed04b19" /><Relationship Type="http://schemas.openxmlformats.org/officeDocument/2006/relationships/tableStyles" Target="/ppt/tableStyles.xml" Id="R1f4140ddf90343c7" /><Relationship Type="http://schemas.openxmlformats.org/officeDocument/2006/relationships/slide" Target="/ppt/slides/slide1.xml" Id="Ra00ecb84f4c54e85" /><Relationship Type="http://schemas.openxmlformats.org/officeDocument/2006/relationships/slide" Target="/ppt/slides/slide2.xml" Id="R77898303686c4cfd" /><Relationship Type="http://schemas.openxmlformats.org/officeDocument/2006/relationships/slide" Target="/ppt/slides/slide3.xml" Id="Rae7979f5f2dc4e77" /><Relationship Type="http://schemas.openxmlformats.org/officeDocument/2006/relationships/slide" Target="/ppt/slides/slide4.xml" Id="R0e174f5226794fc7" /><Relationship Type="http://schemas.openxmlformats.org/officeDocument/2006/relationships/slide" Target="/ppt/slides/slide5.xml" Id="R380cbef8bf7f4c76" /><Relationship Type="http://schemas.openxmlformats.org/officeDocument/2006/relationships/slide" Target="/ppt/slides/slide6.xml" Id="R1c67ebc87bc34081" /><Relationship Type="http://schemas.openxmlformats.org/officeDocument/2006/relationships/slide" Target="/ppt/slides/slide7.xml" Id="R2a57ef5c6cec4a75" /><Relationship Type="http://schemas.openxmlformats.org/officeDocument/2006/relationships/slide" Target="/ppt/slides/slide8.xml" Id="Rc909ee51b3a04d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f952fb76d940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eab16b465a4100" /><Relationship Type="http://schemas.openxmlformats.org/officeDocument/2006/relationships/notesMaster" Target="/ppt/notesMasters/notesMaster1.xml" Id="Rdcb290b1165740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73d179582841e1" /><Relationship Type="http://schemas.openxmlformats.org/officeDocument/2006/relationships/notesMaster" Target="/ppt/notesMasters/notesMaster1.xml" Id="Re2678b68bb6743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e04b0a8a8c4a81" /><Relationship Type="http://schemas.openxmlformats.org/officeDocument/2006/relationships/notesMaster" Target="/ppt/notesMasters/notesMaster1.xml" Id="Rd71a947635b840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422d55ba124e3f" /><Relationship Type="http://schemas.openxmlformats.org/officeDocument/2006/relationships/notesMaster" Target="/ppt/notesMasters/notesMaster1.xml" Id="Rcd42da841d0f4a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9a05e64db484e" /><Relationship Type="http://schemas.openxmlformats.org/officeDocument/2006/relationships/notesMaster" Target="/ppt/notesMasters/notesMaster1.xml" Id="Rdf815c9b3dae43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53ef699ed5415d" /><Relationship Type="http://schemas.openxmlformats.org/officeDocument/2006/relationships/notesMaster" Target="/ppt/notesMasters/notesMaster1.xml" Id="R30c916c779984d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5448fa0882475f" /><Relationship Type="http://schemas.openxmlformats.org/officeDocument/2006/relationships/notesMaster" Target="/ppt/notesMasters/notesMaster1.xml" Id="R095273ed578046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9adf4c453a4ba5" /><Relationship Type="http://schemas.openxmlformats.org/officeDocument/2006/relationships/notesMaster" Target="/ppt/notesMasters/notesMaster1.xml" Id="R83cd64244e1f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Proyecto: análisis territorial de 88 municipios y visitas programadas/modeladas desde paradas admitidas. Fuentes y alcance: https://github.com/Asier-Comba/Guipuzkoa360/blob/main/docs/vnext/final_delivery/DELIVERY_COPY.md</a:t>
            </a:r>
          </a:p>
          <a:p xmlns:a="http://schemas.openxmlformats.org/drawingml/2006/main">
            <a:r>
              <a:t>https://github.com/Asier-Comba/Guipuzkoa360/blob/main/resultados/evidencia/final_visits.json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Fondo y montaje generados como ilustraciones decorativas. No representan un viaje observado, un centro verificado ni una paciente real. Identidad azul, blanco y cian inspirada en la referencia aportada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https://github.com/Asier-Comba/Guipuzkoa360/blob/main/docs/vnext/final_delivery/DELIVERY_COPY.md</a:t>
            </a:r>
          </a:p>
          <a:p xmlns:a="http://schemas.openxmlformats.org/drawingml/2006/main">
            <a:r>
              <a:t>https://github.com/Asier-Comba/Guipuzkoa360/blob/main/resultados/evidencia/final_visits.json</a:t>
            </a:r>
          </a:p>
          <a:p xmlns:a="http://schemas.openxmlformats.org/drawingml/2006/main">
            <a:r>
              <a:t>Zegama, 29/09/2026, 09:30, consulta 20 min. Total 10.691 segundos, inicio 08:09:37, fin 11:07:48. Horarios programados y paseo modelado.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Fondo y montaje generados como ilustraciones decorativas. No representan un viaje observado, un centro verificado ni una paciente real. Identidad azul, blanco y cian inspirada en la referencia aportada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https://github.com/Asier-Comba/Guipuzkoa360/blob/main/resultados/evidencia/threshold_2_3_observed.json</a:t>
            </a:r>
          </a:p>
          <a:p xmlns:a="http://schemas.openxmlformats.org/drawingml/2006/main">
            <a:r>
              <a:t>Eustat: 01/01/2025. geoEuskadi: 07/05/2025. Open Data Euskadi: 20/09/2026. Atención primaria, umbral 2 a 3 km: 19 fuera→dentro, 0 dentro→fuera, 63 permanecen dentro, 6 permanecen fuera. Total 88.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Fondo y montaje generados como ilustraciones decorativas. No representan un viaje observado, un centro verificado ni una paciente real. Identidad azul, blanco y cian inspirada en la referencia aportada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https://github.com/Asier-Comba/Guipuzkoa360/blob/main/docs/vnext/final_delivery/DELIVERY_COPY.md</a:t>
            </a:r>
          </a:p>
          <a:p xmlns:a="http://schemas.openxmlformats.org/drawingml/2006/main">
            <a:r>
              <a:t>https://github.com/Asier-Comba/Guipuzkoa360/blob/main/resultados/evidencia/final_visits.json</a:t>
            </a:r>
          </a:p>
          <a:p xmlns:a="http://schemas.openxmlformats.org/drawingml/2006/main">
            <a:r>
              <a:t>Ocho componentes consecutivos del duration_ledger. Los márgenes están incluidos en las esperas. Paseo a 50 m/min, 120 s por enlace completo y sentido. Márgenes: 10 min antes de consulta y 3 min antes de autobús.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Fondo y montaje generados como ilustraciones decorativas. No representan un viaje observado, un centro verificado ni una paciente real. Identidad azul, blanco y cian inspirada en la referencia aportada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https://github.com/Asier-Comba/Guipuzkoa360/blob/main/docs/vnext/final_delivery/DELIVERY_COPY.md</a:t>
            </a:r>
          </a:p>
          <a:p xmlns:a="http://schemas.openxmlformats.org/drawingml/2006/main">
            <a:r>
              <a:t>https://github.com/Asier-Comba/Guipuzkoa360/blob/main/resultados/evidencia/final_visits.json</a:t>
            </a:r>
          </a:p>
          <a:p xmlns:a="http://schemas.openxmlformats.org/drawingml/2006/main">
            <a:r>
              <a:t>Primera opción: 09:30, 10.691 s, 08:09:37–11:07:48. Segunda: 09:45, 8.591 s, 08:44:37–11:07:48. Diferencia −2.100 s = −35 min. El inicio cambia +35 min, el fin coincide.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Fondo y montaje generados como ilustraciones decorativas. No representan un viaje observado, un centro verificado ni una paciente real. Identidad azul, blanco y cian inspirada en la referencia aportada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https://github.com/Asier-Comba/Guipuzkoa360/blob/main/docs/vnext/final_delivery/DELIVERY_COPY.md</a:t>
            </a:r>
          </a:p>
          <a:p xmlns:a="http://schemas.openxmlformats.org/drawingml/2006/main">
            <a:r>
              <a:t>https://github.com/Asier-Comba/Guipuzkoa360/blob/main/resultados/evidencia/final_visits.json</a:t>
            </a:r>
          </a:p>
          <a:p xmlns:a="http://schemas.openxmlformats.org/drawingml/2006/main">
            <a:r>
              <a:t>Cada fila compara exclusivamente dos horas de la misma visita. Segura: 9.323 y 11.123 s, +1.800 s. Zegama: 10.691 y 8.591 s, −2.100 s. Idiazabal: 8.190 s en ambos casos, delta 0. No se calcula una diferencia entre orígenes.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Fondo y montaje generados como ilustraciones decorativas. No representan un viaje observado, un centro verificado ni una paciente real. Identidad azul, blanco y cian inspirada en la referencia aportada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https://github.com/Asier-Comba/Guipuzkoa360/blob/main/docs/vnext/final_delivery/DELIVERY_COPY.md</a:t>
            </a:r>
          </a:p>
          <a:p xmlns:a="http://schemas.openxmlformats.org/drawingml/2006/main">
            <a:r>
              <a:t>https://github.com/Asier-Comba/Guipuzkoa360/blob/main/resultados/evidencia/final_visits.json</a:t>
            </a:r>
          </a:p>
          <a:p xmlns:a="http://schemas.openxmlformats.org/drawingml/2006/main">
            <a:r>
              <a:t>Fuentes territoriales: Eustat 01/01/2025, geoEuskadi 07/05/2025, Open Data Euskadi 20/09/2026. Moveuskadi/Goierrialdea horarios 28/09–27/12/2026. Osakidetza ficha consultada 29/09/2026. © OpenStreetMap contributors, ODbL 1.0, red obtenida 29/09/2026. Conflicto de dirección entre fuentes; entrada física no verificada.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Fondo y montaje generados como ilustraciones decorativas. No representan un viaje observado, un centro verificado ni una paciente real. Identidad azul, blanco y cian inspirada en la referencia aportada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https://github.com/Asier-Comba/Guipuzkoa360</a:t>
            </a:r>
          </a:p>
          <a:p xmlns:a="http://schemas.openxmlformats.org/drawingml/2006/main">
            <a:r>
              <a:t>Web de resultados guardados: https://asier-comba.github.io/Guipuzkoa360/</a:t>
            </a:r>
          </a:p>
          <a:p xmlns:a="http://schemas.openxmlformats.org/drawingml/2006/main">
            <a:r>
              <a:t>El agente conversacional se utiliza en el portal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Fondo y montaje generados como ilustraciones decorativas. No representan un viaje observado, un centro verificado ni una paciente real. Identidad azul, blanco y cian inspirada en la referencia aportada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898b991b341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fb193b6c74a57" /><Relationship Type="http://schemas.openxmlformats.org/officeDocument/2006/relationships/slideLayout" Target="/ppt/slideLayouts/slideLayout1.xml" Id="R0d933d4beb1046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933d4beb1046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0bf5495e94830" /><Relationship Type="http://schemas.openxmlformats.org/officeDocument/2006/relationships/image" Target="/ppt/media/image.png" Id="Ref9ec53c614e4ba0" /><Relationship Type="http://schemas.openxmlformats.org/officeDocument/2006/relationships/notesSlide" Target="/ppt/notesSlides/notesSlide1.xml" Id="Rfc65f89ddb164f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acf958d414238" /><Relationship Type="http://schemas.openxmlformats.org/officeDocument/2006/relationships/image" Target="/ppt/media/image2.png" Id="Rf5f45619097d4d04" /><Relationship Type="http://schemas.openxmlformats.org/officeDocument/2006/relationships/image" Target="/ppt/media/image3.png" Id="Rce242187f14e4063" /><Relationship Type="http://schemas.openxmlformats.org/officeDocument/2006/relationships/notesSlide" Target="/ppt/notesSlides/notesSlide2.xml" Id="Rfdeb7539112a47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c94d71b534600" /><Relationship Type="http://schemas.openxmlformats.org/officeDocument/2006/relationships/image" Target="/ppt/media/image4.png" Id="R7c28b62c71a1440f" /><Relationship Type="http://schemas.openxmlformats.org/officeDocument/2006/relationships/notesSlide" Target="/ppt/notesSlides/notesSlide3.xml" Id="R417427d9349f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a84c45dd14e86" /><Relationship Type="http://schemas.openxmlformats.org/officeDocument/2006/relationships/image" Target="/ppt/media/image5.png" Id="R4cb2f0b0f6174483" /><Relationship Type="http://schemas.openxmlformats.org/officeDocument/2006/relationships/image" Target="/ppt/media/image6.png" Id="R3e8651a8f69e4cd2" /><Relationship Type="http://schemas.openxmlformats.org/officeDocument/2006/relationships/notesSlide" Target="/ppt/notesSlides/notesSlide4.xml" Id="R9da020d4064f43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bc0425c3d4414" /><Relationship Type="http://schemas.openxmlformats.org/officeDocument/2006/relationships/image" Target="/ppt/media/image7.png" Id="R755aad18c5bb4d42" /><Relationship Type="http://schemas.openxmlformats.org/officeDocument/2006/relationships/notesSlide" Target="/ppt/notesSlides/notesSlide5.xml" Id="Raafb2d312ac2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c71035f9d4f1d" /><Relationship Type="http://schemas.openxmlformats.org/officeDocument/2006/relationships/image" Target="/ppt/media/image8.png" Id="Raadbb3957d174a6b" /><Relationship Type="http://schemas.openxmlformats.org/officeDocument/2006/relationships/notesSlide" Target="/ppt/notesSlides/notesSlide6.xml" Id="Rafd3977e8f5548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71134f86148e0" /><Relationship Type="http://schemas.openxmlformats.org/officeDocument/2006/relationships/image" Target="/ppt/media/image9.png" Id="Rf39dd63c0e2b4cb8" /><Relationship Type="http://schemas.openxmlformats.org/officeDocument/2006/relationships/notesSlide" Target="/ppt/notesSlides/notesSlide7.xml" Id="Rb2d5ca1ac21e43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5a4f2d62f46aa" /><Relationship Type="http://schemas.openxmlformats.org/officeDocument/2006/relationships/image" Target="/ppt/media/image10.png" Id="Rceb59116bcb144d2" /><Relationship Type="http://schemas.openxmlformats.org/officeDocument/2006/relationships/hyperlink" Target="https://asier-comba.github.io/Guipuzkoa360/" TargetMode="External" Id="Ra1e3b822117447c3" /><Relationship Type="http://schemas.openxmlformats.org/officeDocument/2006/relationships/notesSlide" Target="/ppt/notesSlides/notesSlide8.xml" Id="Rce21fd1e923244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ec53c614e4b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EC087-31CF-4806-8B5B-113FF36B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EC057-0611-4FC2-8374-83BA6254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5625D-CBF1-4E23-90B8-8199B483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1C9F2-44F7-4DBC-9FB2-48478A30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URBAN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82EAD-58F5-4071-ABB7-BE3DC7D1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63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087C2-B9DB-49D5-9176-874AD411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AA17F-2AE5-4D8F-BF00-8B934039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GIPUZKOA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791A0-35BE-4B3B-A714-2D4EE012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66800"/>
            <a:ext cx="1666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4B088-5881-4B9D-BE7E-E4B54350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 sanitario y visita completa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 transporte público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0A676-E770-4A6F-BD64-6C0BB363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Análisis de Gipuzkoa y ejemplos calculados</a:t>
            </a:r>
          </a:p>
          <a:p xmlns:a="http://schemas.openxmlformats.org/drawingml/2006/main">
            <a:pPr algn="l">
              <a:defRPr sz="17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de visitas al Ambulatorio de Beasain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DB585-8BF1-4619-B022-31CBC73A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14775"/>
            <a:ext cx="8305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62339">
              <a:alpha val="92000"/>
            </a:srgbClr>
          </a:solidFill>
          <a:ln xmlns:a="http://schemas.openxmlformats.org/drawingml/2006/main" w="9525">
            <a:solidFill>
              <a:srgbClr val="59BAE4">
                <a:alpha val="55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B8954-E94F-4572-8C94-07DCAA48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14800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714D4-78C9-4F6E-A23F-6CE2EBE8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624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Oier Duñabeitia Berezo</a:t>
            </a:r>
          </a:p>
          <a:p xmlns:a="http://schemas.openxmlformats.org/drawingml/2006/main">
            <a:pPr algn="l">
              <a:defRPr sz="12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Asier Comba Lopez</a:t>
            </a:r>
          </a:p>
          <a:p xmlns:a="http://schemas.openxmlformats.org/drawingml/2006/main">
            <a:pPr algn="l">
              <a:defRPr sz="12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Hugo Fernández Díez</a:t>
            </a:r>
          </a:p>
        </p:txBody>
      </p:sp>
    </p:spTree>
    <p:extLst>
      <p:ext uri="{BB962C8B-B14F-4D97-AF65-F5344CB8AC3E}">
        <p14:creationId xmlns:p14="http://schemas.microsoft.com/office/powerpoint/2010/main" val="4082805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45619097d4d0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434A5-F4C1-4E27-9F23-A6506BA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B9124-721D-4B4E-8D7D-78D68128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EAD51-13D6-4233-BB4A-3A87512E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4EF7-BDD6-4FCD-82B6-8F8391A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URBAN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83C96-994C-4B45-BB2F-DA9D86D6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tiempo completo de una visita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0DC8E-845A-4931-BAA4-303ED560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830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Una consulta breve también requiere desplazamientos y esperas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45227-04B0-4538-A35D-D62DB0CB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63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B39F3-FC76-4471-A464-0AF1F2A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69699-BCC9-4400-849E-3B29D41B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3352800" cy="2409825"/>
          </a:xfrm>
          <a:prstGeom xmlns:a="http://schemas.openxmlformats.org/drawingml/2006/main" prst="roundRect">
            <a:avLst>
              <a:gd name="adj" fmla="val 4743"/>
            </a:avLst>
          </a:prstGeom>
          <a:solidFill xmlns:a="http://schemas.openxmlformats.org/drawingml/2006/main">
            <a:srgbClr val="062339">
              <a:alpha val="92000"/>
            </a:srgbClr>
          </a:solidFill>
          <a:ln xmlns:a="http://schemas.openxmlformats.org/drawingml/2006/main" w="9525">
            <a:solidFill>
              <a:srgbClr val="59BAE4">
                <a:alpha val="55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2F448-4F01-483F-B90A-458DE90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050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4D54D-A51C-412C-BDB5-842D9E8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0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99C73-4BFD-4153-ABE9-F9F3E9F4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95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VISITA COMPLETA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3DC7F-44F1-42F9-B134-5CFD6CB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04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h 58 min 11 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42187f14e4063"/>
          <a:srcRect xmlns:a="http://schemas.openxmlformats.org/drawingml/2006/main" l="0" t="5310" r="0" b="5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1924050"/>
            <a:ext cx="4714875" cy="23717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C6C1E-0F6A-422B-9024-E62093FD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862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Desde las paradas de Zegama. Ejemplo calculado para el 29/09/2026.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00A18-EC82-4594-8ADC-0B72330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05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Imágenes ilustrativas</a:t>
            </a:r>
          </a:p>
        </p:txBody>
      </p:sp>
    </p:spTree>
    <p:extLst>
      <p:ext uri="{BB962C8B-B14F-4D97-AF65-F5344CB8AC3E}">
        <p14:creationId xmlns:p14="http://schemas.microsoft.com/office/powerpoint/2010/main" val="14365911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8b62c71a144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511DA-81D0-4D50-B1A6-31855171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6B516-8D53-4667-8E10-267FF506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A4076-7ADB-4D58-811D-1DD1F99C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93EF9-CAFC-4213-9686-BF242B80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URBAN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1BB1D-EC18-441E-9723-48777CE7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Análisis territorial de Gipuzkoa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2EAB2-7047-4698-91D4-60607A8B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830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Envejecimiento y proximidad geométrica a registros sanitarios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A639E-5D79-4F45-8552-828822A9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63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6A25F-7C7E-49E0-BF56-AA61A6F5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C6429-76A2-47A9-A9D9-784F3148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2457450" cy="24669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62339">
              <a:alpha val="92000"/>
            </a:srgbClr>
          </a:solidFill>
          <a:ln xmlns:a="http://schemas.openxmlformats.org/drawingml/2006/main" w="9525">
            <a:solidFill>
              <a:srgbClr val="59BAE4">
                <a:alpha val="55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8D3E6-3714-408E-9E4E-E4603C5D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57400"/>
            <a:ext cx="1962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0CF94-9410-4E4B-B222-ECAEE72A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municipios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FD56A-D323-4059-B304-4C9BCAC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909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Datos municipales</a:t>
            </a:r>
          </a:p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para orientar estudios</a:t>
            </a:r>
          </a:p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posteriores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81831-98E2-4C90-8E55-3BB24991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933575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Atención primaria: umbral de 2 a 3 km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3133725" y="2390775"/>
          <a:ext xmlns:a="http://schemas.openxmlformats.org/drawingml/2006/main" cx="5581650" cy="1685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81300"/>
                <a:gridCol w="1400175"/>
                <a:gridCol w="1400175"/>
              </a:tblGrid>
              <a:tr h="42148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Clasificación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2 km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3 km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Dentro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82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Fuera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88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88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98A69-E1CD-4931-BC7B-37EC3B8F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81475"/>
            <a:ext cx="5514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19 municipios pasan de fuera a dentro. Solo cambia el umbral.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BD22C-AD91-48B4-B93C-54F7407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00575"/>
            <a:ext cx="830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Distancia geométrica desde un punto municipal. No mide población cubierta ni tiempo de viaje.</a:t>
            </a:r>
          </a:p>
        </p:txBody>
      </p:sp>
    </p:spTree>
    <p:extLst>
      <p:ext uri="{BB962C8B-B14F-4D97-AF65-F5344CB8AC3E}">
        <p14:creationId xmlns:p14="http://schemas.microsoft.com/office/powerpoint/2010/main" val="3747972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2f0b0f61744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D3123-4F7D-4068-879F-E67F5AB9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99F71-316E-4082-87C3-8EE8E9E9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EAEBC-8E8C-47E9-AB1D-C03F601E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1501-EA3A-4756-94BF-F7B31DF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URBAN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88A0B-C610-4EA8-B12C-91E0356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calculamos la visita completa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A3460-8B5C-4A7A-BB67-2629ED33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830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Desde las paradas de origen hasta el regreso a esas paradas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84DBE-597E-43D7-B3E5-C0864642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63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E56E7-224D-4463-89F3-9971F977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651a8f69e4cd2"/>
          <a:srcRect xmlns:a="http://schemas.openxmlformats.org/drawingml/2006/main" l="0" t="36755" r="0" b="367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847850"/>
            <a:ext cx="8305800" cy="1238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3" name=""/>
          <p:cNvGraphicFramePr/>
          <p:nvPr/>
        </p:nvGraphicFramePr>
        <p:xfrm>
          <a:off xmlns:a="http://schemas.openxmlformats.org/drawingml/2006/main" x="419100" y="3143250"/>
          <a:ext xmlns:a="http://schemas.openxmlformats.org/drawingml/2006/main" cx="8305800" cy="1476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52900"/>
                <a:gridCol w="4152900"/>
              </a:tblGrid>
              <a:tr h="2952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Antes de la consulta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Consulta y regreso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  Espera inicial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  Consulta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 Autobús de ida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  Paseo de regreso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  Paseo al centro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  Espera del autobús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  Espera previa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  Autobús de vuelta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3D213-8B43-490E-9A8B-5EB5036E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482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Horarios programados y paseo modelado. Los márgenes ya están incluidos en las esperas.</a:t>
            </a:r>
          </a:p>
        </p:txBody>
      </p:sp>
    </p:spTree>
    <p:extLst>
      <p:ext uri="{BB962C8B-B14F-4D97-AF65-F5344CB8AC3E}">
        <p14:creationId xmlns:p14="http://schemas.microsoft.com/office/powerpoint/2010/main" val="16440643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aad18c5bb4d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301CF-6665-47F5-9EE3-4521497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DEB10-1533-48EF-9AA7-6066B588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915CD-1E21-4DDA-B6C0-3EA1B25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199C6-E086-43BB-B535-3ED16F7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URBAN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FB65B-C088-401A-B678-4846A36D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Zegama: cambiar la hora de cita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ADD19-FADA-468F-93E9-A8EB0D08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830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Ambulatorio de Beasain, 29/09/2026. Consulta de 20 minutos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CA554-8DBB-4FE9-BBFF-217AB3ED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63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74FE5-8B57-4974-9993-5DC2D60A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530C4-B154-415F-B958-633226FE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62150"/>
            <a:ext cx="40100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62339">
              <a:alpha val="92000"/>
            </a:srgbClr>
          </a:solidFill>
          <a:ln xmlns:a="http://schemas.openxmlformats.org/drawingml/2006/main" w="9525">
            <a:solidFill>
              <a:srgbClr val="59BAE4">
                <a:alpha val="55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A7250-550A-4D4C-B8BA-EF3D2906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62150"/>
            <a:ext cx="40100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62339">
              <a:alpha val="92000"/>
            </a:srgbClr>
          </a:solidFill>
          <a:ln xmlns:a="http://schemas.openxmlformats.org/drawingml/2006/main" w="9525">
            <a:solidFill>
              <a:srgbClr val="59BAE4">
                <a:alpha val="5500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59295-D7FE-4D68-B383-7B35ECA3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CITA A LAS 09:30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B66DF-CF46-453C-A436-7F95CB67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h 58 min 11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6BCC9-ACDC-4D71-A761-EB45040F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08:09:37 a 11:07:48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A58DE-DEE1-445D-A5D7-6F48310F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2002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CITA A LAS 09:45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A7E48-F69A-4D50-A014-3FFD4A1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051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h 23 min 11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6352E-41F5-42DD-B7A3-78B7A0AA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480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08:44:37 a 11:07:48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7D885-2E52-4DC3-98BB-AF91C718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43375"/>
            <a:ext cx="830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35 minutos menos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092F4-E9F0-4174-98E7-E418CB0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8675"/>
            <a:ext cx="830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Mismo origen, destino, fecha y duración. Diferencia condicional, sin recomendar una cita.</a:t>
            </a:r>
          </a:p>
        </p:txBody>
      </p:sp>
    </p:spTree>
    <p:extLst>
      <p:ext uri="{BB962C8B-B14F-4D97-AF65-F5344CB8AC3E}">
        <p14:creationId xmlns:p14="http://schemas.microsoft.com/office/powerpoint/2010/main" val="10468763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bb3957d174a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B923A-B4A1-4D4C-8D9C-F9B273C1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FB260-B6F3-44F8-9C98-2C1F4B0A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A8996-A7F0-4248-A2F2-38013ED4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FB621-0020-4676-B707-95FA8883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URBAN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BEFC1-7112-4AD1-8657-7B8359FC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Tres orígenes, tres comparaciones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8EB3D-2044-4375-80CC-B0368E3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830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Visitas al Ambulatorio de Beasain el 29/09/2026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64EFC-7447-4A85-ADFF-55E2B2B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63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813D8-73F2-47E7-B99D-01190BBD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19100" y="2038350"/>
          <a:ext xmlns:a="http://schemas.openxmlformats.org/drawingml/2006/main" cx="8305800" cy="21621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1009650"/>
                <a:gridCol w="1181100"/>
                <a:gridCol w="2952750"/>
                <a:gridCol w="1638300"/>
              </a:tblGrid>
              <a:tr h="5405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Origen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Consulta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Citas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Tiempo completo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5D0FA"/>
                          </a:solidFill>
                          <a:latin typeface="Arial"/>
                          <a:ea typeface="Arial"/>
                          <a:cs typeface="Arial"/>
                        </a:rPr>
                        <a:t>Diferencia</a:t>
                      </a:r>
                    </a:p>
                  </a:txBody>
                  <a:tcPr marL="114300" marR="114300" marT="19050" marB="19050" anchor="ctr">
                    <a:solidFill>
                      <a:srgbClr val="0C4968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Zegama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 min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09:30</a:t>
                      </a:r>
                    </a:p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09:45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h 58 min 11 s</a:t>
                      </a:r>
                    </a:p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h 23 min 11 s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−35 min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Segura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30 min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10:00</a:t>
                      </a:r>
                    </a:p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10:15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h 35 min 23 s</a:t>
                      </a:r>
                    </a:p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 h 5 min 23 s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+30 min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Idiazabal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25 min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11:00</a:t>
                      </a:r>
                    </a:p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11:15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h 16 min 30 s</a:t>
                      </a:r>
                    </a:p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h 16 min 30 s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 min</a:t>
                      </a:r>
                    </a:p>
                  </a:txBody>
                  <a:tcPr marL="114300" marR="114300" marT="19050" marB="19050" anchor="ctr">
                    <a:solidFill>
                      <a:srgbClr val="06233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EF91B-EFE8-4CC9-ADD1-A3CF0F10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00550"/>
            <a:ext cx="830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La diferencia corresponde a la segunda hora respecto de la primera, dentro de cada origen.</a:t>
            </a:r>
          </a:p>
        </p:txBody>
      </p:sp>
    </p:spTree>
    <p:extLst>
      <p:ext uri="{BB962C8B-B14F-4D97-AF65-F5344CB8AC3E}">
        <p14:creationId xmlns:p14="http://schemas.microsoft.com/office/powerpoint/2010/main" val="7197554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dd63c0e2b4cb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308F7-BD7E-489B-8565-048037BB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F95D4-3487-43DB-8872-F1D7A2D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27767-A8A3-4C8B-B8CF-BEF8CC6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6D585-574C-4DA1-97DD-65CA9F8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URBAN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DA3D7-B33D-4A02-A4F2-5530E53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Fuentes y límites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9540C-F62F-405E-9E9A-8EA69B42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830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El agente responde dentro del alcance disponible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83539-161C-4F92-B2CF-599D5285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63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5EA65-00CE-4A82-A64F-100FFF95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92378-9201-4DEF-B770-6E688FF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95475"/>
            <a:ext cx="4010025" cy="2295525"/>
          </a:xfrm>
          <a:prstGeom xmlns:a="http://schemas.openxmlformats.org/drawingml/2006/main" prst="roundRect">
            <a:avLst>
              <a:gd name="adj" fmla="val 4979"/>
            </a:avLst>
          </a:prstGeom>
          <a:solidFill xmlns:a="http://schemas.openxmlformats.org/drawingml/2006/main">
            <a:srgbClr val="062339">
              <a:alpha val="92000"/>
            </a:srgbClr>
          </a:solidFill>
          <a:ln xmlns:a="http://schemas.openxmlformats.org/drawingml/2006/main" w="9525">
            <a:solidFill>
              <a:srgbClr val="59BAE4">
                <a:alpha val="55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BA897-F5BC-4907-87B5-F947498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95475"/>
            <a:ext cx="4010025" cy="2295525"/>
          </a:xfrm>
          <a:prstGeom xmlns:a="http://schemas.openxmlformats.org/drawingml/2006/main" prst="roundRect">
            <a:avLst>
              <a:gd name="adj" fmla="val 4979"/>
            </a:avLst>
          </a:prstGeom>
          <a:solidFill xmlns:a="http://schemas.openxmlformats.org/drawingml/2006/main">
            <a:srgbClr val="062339">
              <a:alpha val="92000"/>
            </a:srgbClr>
          </a:solidFill>
          <a:ln xmlns:a="http://schemas.openxmlformats.org/drawingml/2006/main" w="9525">
            <a:solidFill>
              <a:srgbClr val="59BAE4">
                <a:alpha val="5500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74169-97DF-49C2-A43E-E3C06046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95500"/>
            <a:ext cx="3571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Qué podemos calcular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009E5-B783-4336-A221-9DE41CD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00325"/>
            <a:ext cx="35718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Comparaciones dentro del catálogo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Origen, fecha, hora y duración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Cifras con fuentes y supuestos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DA280-38D3-40D8-82D9-1E8FD05F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Límites actuales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4E4D5-282C-422E-83E6-90711BF8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0325"/>
            <a:ext cx="35623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tiempo real ni domicilios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disponibilidad de citas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capacidad clínica ni una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recomendación de la mejor hora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C901D-72B9-414B-90EA-903096C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33875"/>
            <a:ext cx="830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Fecha de visita validada: 29/09/2026. Entrada física del centro no verificada.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6CB8D-3AA7-4D5A-AEB4-964067E2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00575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Eustat, geoEuskadi, Open Data Euskadi, Moveuskadi/Goierrialdea y Osakidetza.</a:t>
            </a:r>
          </a:p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Red de paseo: © OpenStreetMap contributors, ODbL 1.0. Las fuentes tienen fechas distintas.</a:t>
            </a:r>
          </a:p>
        </p:txBody>
      </p:sp>
    </p:spTree>
    <p:extLst>
      <p:ext uri="{BB962C8B-B14F-4D97-AF65-F5344CB8AC3E}">
        <p14:creationId xmlns:p14="http://schemas.microsoft.com/office/powerpoint/2010/main" val="15094831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59116bcb144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024BD-8E95-484A-A80E-10C37AAE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DeustoAI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A2A1E-1799-462B-ABCB-FE109ACF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Universidad de Deusto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32671-51DC-4626-A934-297AC3E3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6AE33-6CF7-463C-9BF5-109B544A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URBAN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68CBE-1B09-4AA0-99A9-FEA35DA6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863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9F9B-99EC-4207-9F0B-3E77E0E6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59577-9A9C-49E6-B901-C5D4333A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704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592DF-ED1C-46B3-800A-174CE074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05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65D0FA"/>
                </a:solidFill>
                <a:latin typeface="Arial"/>
                <a:ea typeface="Arial"/>
                <a:cs typeface="Arial"/>
              </a:rPr>
              <a:t>GIPUZKOA 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C890D-5383-408C-AAD0-ADF597E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81325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Hacemos visible cuánto tiempo ocupa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visita sanitaria en transporte público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779B3-3F61-4C1A-92EB-68DBF4AB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860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E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EE9"/>
                </a:solidFill>
                <a:latin typeface="Arial"/>
                <a:ea typeface="Arial"/>
                <a:cs typeface="Arial"/>
              </a:rPr>
              <a:t>Web de resultados y presentación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33938-8043-4FF6-918D-FD84480B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33875"/>
            <a:ext cx="723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5D0FA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a1e3b822117447c3"/>
              </a:rPr>
              <a:t>asier-comba.github.io/Guipuzkoa360</a:t>
            </a:r>
          </a:p>
        </p:txBody>
      </p:sp>
    </p:spTree>
    <p:extLst>
      <p:ext uri="{BB962C8B-B14F-4D97-AF65-F5344CB8AC3E}">
        <p14:creationId xmlns:p14="http://schemas.microsoft.com/office/powerpoint/2010/main" val="798977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2026-10-04T21:15:49.0260000Z</dcterms:created>
  <dcterms:modified xsi:type="dcterms:W3CDTF">2026-10-04T21:15:49.0260000Z</dcterms:modified>
</coreProperties>
</file>