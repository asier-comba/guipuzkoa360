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54dfabc034603" /><Relationship Type="http://schemas.openxmlformats.org/officeDocument/2006/relationships/extended-properties" Target="/docProps/app.xml" Id="Rdd0950a0fe314635" /><Relationship Type="http://schemas.openxmlformats.org/officeDocument/2006/relationships/officeDocument" Target="/ppt/presentation.xml" Id="R6f43f2ac989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bf6a6e91a4884"/>
  </p:sldMasterIdLst>
  <p:notesMasterIdLst>
    <p:notesMasterId xmlns:r="http://schemas.openxmlformats.org/officeDocument/2006/relationships" r:id="R02dd191424704ef0"/>
  </p:notesMasterIdLst>
  <p:sldIdLst>
    <p:sldId xmlns:r="http://schemas.openxmlformats.org/officeDocument/2006/relationships" id="256" r:id="R6f4286af6e514cf5"/>
    <p:sldId xmlns:r="http://schemas.openxmlformats.org/officeDocument/2006/relationships" id="257" r:id="R6ec86b4edc8a4a4d"/>
    <p:sldId xmlns:r="http://schemas.openxmlformats.org/officeDocument/2006/relationships" id="258" r:id="Re2674204eb214c6a"/>
    <p:sldId xmlns:r="http://schemas.openxmlformats.org/officeDocument/2006/relationships" id="259" r:id="R8d76821c6cfc4995"/>
    <p:sldId xmlns:r="http://schemas.openxmlformats.org/officeDocument/2006/relationships" id="260" r:id="R1859c990a8744555"/>
    <p:sldId xmlns:r="http://schemas.openxmlformats.org/officeDocument/2006/relationships" id="261" r:id="Rf3971dac4e874649"/>
    <p:sldId xmlns:r="http://schemas.openxmlformats.org/officeDocument/2006/relationships" id="262" r:id="R2ca5d07f043b4e3f"/>
    <p:sldId xmlns:r="http://schemas.openxmlformats.org/officeDocument/2006/relationships" id="263" r:id="Ra408376fd7f54810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733df8524467f" /><Relationship Type="http://schemas.openxmlformats.org/officeDocument/2006/relationships/slideMaster" Target="/ppt/slideMasters/slideMaster1.xml" Id="R613bf6a6e91a4884" /><Relationship Type="http://schemas.openxmlformats.org/officeDocument/2006/relationships/notesMaster" Target="/ppt/notesMasters/notesMaster1.xml" Id="R02dd191424704ef0" /><Relationship Type="http://schemas.openxmlformats.org/officeDocument/2006/relationships/presProps" Target="/ppt/presProps.xml" Id="Rcd7b0614f1354ae9" /><Relationship Type="http://schemas.openxmlformats.org/officeDocument/2006/relationships/tableStyles" Target="/ppt/tableStyles.xml" Id="Ra153651fa3fa4c65" /><Relationship Type="http://schemas.openxmlformats.org/officeDocument/2006/relationships/slide" Target="/ppt/slides/slide1.xml" Id="R6f4286af6e514cf5" /><Relationship Type="http://schemas.openxmlformats.org/officeDocument/2006/relationships/slide" Target="/ppt/slides/slide2.xml" Id="R6ec86b4edc8a4a4d" /><Relationship Type="http://schemas.openxmlformats.org/officeDocument/2006/relationships/slide" Target="/ppt/slides/slide3.xml" Id="Re2674204eb214c6a" /><Relationship Type="http://schemas.openxmlformats.org/officeDocument/2006/relationships/slide" Target="/ppt/slides/slide4.xml" Id="R8d76821c6cfc4995" /><Relationship Type="http://schemas.openxmlformats.org/officeDocument/2006/relationships/slide" Target="/ppt/slides/slide5.xml" Id="R1859c990a8744555" /><Relationship Type="http://schemas.openxmlformats.org/officeDocument/2006/relationships/slide" Target="/ppt/slides/slide6.xml" Id="Rf3971dac4e874649" /><Relationship Type="http://schemas.openxmlformats.org/officeDocument/2006/relationships/slide" Target="/ppt/slides/slide7.xml" Id="R2ca5d07f043b4e3f" /><Relationship Type="http://schemas.openxmlformats.org/officeDocument/2006/relationships/slide" Target="/ppt/slides/slide8.xml" Id="Ra408376fd7f548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4923bf1a0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bdf2cfbebd49ee" /><Relationship Type="http://schemas.openxmlformats.org/officeDocument/2006/relationships/notesMaster" Target="/ppt/notesMasters/notesMaster1.xml" Id="Rd76aa8df0f05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a487363d34a74" /><Relationship Type="http://schemas.openxmlformats.org/officeDocument/2006/relationships/notesMaster" Target="/ppt/notesMasters/notesMaster1.xml" Id="R8d16442d24e5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bdabf39b2c463d" /><Relationship Type="http://schemas.openxmlformats.org/officeDocument/2006/relationships/notesMaster" Target="/ppt/notesMasters/notesMaster1.xml" Id="Ra036d147d8ee4b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63e9709db4250" /><Relationship Type="http://schemas.openxmlformats.org/officeDocument/2006/relationships/notesMaster" Target="/ppt/notesMasters/notesMaster1.xml" Id="Radefb3bf0077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35ed3327974c19" /><Relationship Type="http://schemas.openxmlformats.org/officeDocument/2006/relationships/notesMaster" Target="/ppt/notesMasters/notesMaster1.xml" Id="R345d45eae181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2ab725335743cd" /><Relationship Type="http://schemas.openxmlformats.org/officeDocument/2006/relationships/notesMaster" Target="/ppt/notesMasters/notesMaster1.xml" Id="R8f0529ece48e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3c66e657d4dfe" /><Relationship Type="http://schemas.openxmlformats.org/officeDocument/2006/relationships/notesMaster" Target="/ppt/notesMasters/notesMaster1.xml" Id="R3b1363db053e4c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44d2f8a484430" /><Relationship Type="http://schemas.openxmlformats.org/officeDocument/2006/relationships/notesMaster" Target="/ppt/notesMasters/notesMaster1.xml" Id="Rf1e3eb08b9cb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Alcance: análisis territorial. No se presenta el cálculo de visitas sanitarias. Equipo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 y destinatario de la entrega. La propuesta es exploratoria, no priorización de inversión.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Funciones territoriales de la versión v4. Fuentes y metodología: https://github.com/Asier-Comba/Guipuzkoa360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Evidencia real de v4, herramienta analizar_coincidencia. 88 filas. 65 o más, atención primaria, periodo 2025-01-01, cuantil 0.75, umbral 2 km. Fuente: conversación territorial guardada y salida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Evidencia existente de v4 y visualización territorial. 75 o más, cuantil 0.80, umbral 3 km, periodo 2025-01-01. Cortes 12.9796 % y 2138.6 m. Se analizan 88 filas.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https://github.com/Asier-Comba/Guipuzkoa360/blob/main/FUENTES.md y metodología del repositorio. Las fechas se contrastaron con la salida real territorial.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Limitaciones documentadas de la versión territorial y las fuentes. No hay evidencia de tiempos de viaje, plantilla, citas ni capacidad.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Enlaces públicos: https://asier-comba.github.io/Guipuzkoa360/ y https://github.com/Asier-Comba/Guipuzkoa360. La visualización es territorial, con resultados guardados, no un agente conectado.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fcb3c6c7a4b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8060902014a2b" /><Relationship Type="http://schemas.openxmlformats.org/officeDocument/2006/relationships/slideLayout" Target="/ppt/slideLayouts/slideLayout1.xml" Id="R4a4550ee429d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550ee429d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5a0688ab4d0d" /><Relationship Type="http://schemas.openxmlformats.org/officeDocument/2006/relationships/notesSlide" Target="/ppt/notesSlides/notesSlide1.xml" Id="R199766951fe1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3b2ddec9943c8" /><Relationship Type="http://schemas.openxmlformats.org/officeDocument/2006/relationships/notesSlide" Target="/ppt/notesSlides/notesSlide2.xml" Id="Rb6d2fc8d0ca5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6f4a68d564f28" /><Relationship Type="http://schemas.openxmlformats.org/officeDocument/2006/relationships/notesSlide" Target="/ppt/notesSlides/notesSlide3.xml" Id="R63b807e3e7b641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02be2d8b84957" /><Relationship Type="http://schemas.openxmlformats.org/officeDocument/2006/relationships/notesSlide" Target="/ppt/notesSlides/notesSlide4.xml" Id="R35922b5766d9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85c08bd8f4b33" /><Relationship Type="http://schemas.openxmlformats.org/officeDocument/2006/relationships/notesSlide" Target="/ppt/notesSlides/notesSlide5.xml" Id="R871a6e15abce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45fe20b6f4750" /><Relationship Type="http://schemas.openxmlformats.org/officeDocument/2006/relationships/notesSlide" Target="/ppt/notesSlides/notesSlide6.xml" Id="Rff36ec1286a944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3e3c3f554c52" /><Relationship Type="http://schemas.openxmlformats.org/officeDocument/2006/relationships/notesSlide" Target="/ppt/notesSlides/notesSlide7.xml" Id="R1cd6b06a5ecb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a3fd4f58a46f4" /><Relationship Type="http://schemas.openxmlformats.org/officeDocument/2006/relationships/notesSlide" Target="/ppt/notesSlides/notesSlide8.xml" Id="R6f2ea45660e3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6E2F9-DD08-499C-A594-AA6B7F2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8CF1E-3A67-4E91-AFE8-DBA3E2DB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D49D0-1F4B-4BC7-9CA8-0186DFC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F5FD4-88D4-4BEA-BAF8-5ED6509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229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Envejecimiento y servicios sanitarios</a:t>
            </a:r>
          </a:p>
          <a:p xmlns:a="http://schemas.openxmlformats.org/drawingml/2006/main">
            <a:pPr>
              <a:defRPr sz="2850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en los 88 municipios de Gipuzkoa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D202-B858-422E-A433-F816890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822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para saber dónde profundizar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991A2-2353-4BA8-9971-D318630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DeustoAI Labs / Universidad de Deusto</a:t>
            </a:r>
          </a:p>
          <a:p xmlns:a="http://schemas.openxmlformats.org/drawingml/2006/main">
            <a:pPr>
              <a:defRPr sz="157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Oier Duñabeitia, Asier Comba y Hugo Fernández</a:t>
            </a:r>
          </a:p>
        </p:txBody>
      </p:sp>
    </p:spTree>
    <p:extLst>
      <p:ext uri="{BB962C8B-B14F-4D97-AF65-F5344CB8AC3E}">
        <p14:creationId xmlns:p14="http://schemas.microsoft.com/office/powerpoint/2010/main" val="1967040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97733-FACB-41DF-83A6-E55D5B3E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pregunta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791EF-F0E4-4C1C-B9D9-E00B178A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E0A5-D594-43B1-B87F-7643DBFA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35170-5465-475C-A5DC-92442046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¿Dónde coinciden una mayor proporción de personas mayores y una mayor distancia a servicios sanitarios registrados?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68F6-E889-4D7F-A33A-ABCC60A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8229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personal técnico municipal y territorial.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Permite comparar municipios y decidir qué información adicional necesita un estudio más completo.</a:t>
            </a:r>
          </a:p>
        </p:txBody>
      </p:sp>
    </p:spTree>
    <p:extLst>
      <p:ext uri="{BB962C8B-B14F-4D97-AF65-F5344CB8AC3E}">
        <p14:creationId xmlns:p14="http://schemas.microsoft.com/office/powerpoint/2010/main" val="192240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0A8DD-E474-4E5E-9F53-C697E64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hace el 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656A4-91D5-4151-9EC2-5712DA1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2A62F-A753-424D-99E3-9802716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A3EC0-4C65-42E7-B641-97B63F3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22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Interpreta la pregunta y ejecuta un cálculo sobre datos preparados.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D565D-0513-49C5-B907-97685B1C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8229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Permite consultar un municipio, comparar grupos de edad y explorar escenarios hipotéticos.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respuesta conserva cifras, unidades, periodo, fuentes y límites. Las hipótesis no se presentan como predicciones.</a:t>
            </a:r>
          </a:p>
        </p:txBody>
      </p:sp>
    </p:spTree>
    <p:extLst>
      <p:ext uri="{BB962C8B-B14F-4D97-AF65-F5344CB8AC3E}">
        <p14:creationId xmlns:p14="http://schemas.microsoft.com/office/powerpoint/2010/main" val="479046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6A597-A438-4B54-AB0F-9D47C1A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 principal: siete municipios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28B6E-0561-4AF5-8286-C34FC7E1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1DFC-9579-43E9-9C27-8CE975BA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2E5DD-D7E5-4D20-BFC0-CDADC75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2D4F7"/>
                </a:solidFill>
                <a:latin typeface="Arial"/>
                <a:ea typeface="Arial"/>
                <a:cs typeface="Arial"/>
              </a:rPr>
              <a:t>65 o más años y atención primaria. Cortes: 23,973 % y 2.019,2 m.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82296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38375"/>
                <a:gridCol w="2847975"/>
              </a:tblGrid>
              <a:tr h="352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Municipio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Población 65+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Distancia geométrica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Legazpi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27,170 %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2.624,8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Ezkio-Itsaso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25,949 %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2.110,1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Hondarribia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25,808 %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2.583,5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Hernialde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25,387 %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2.192,5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Oñati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24,806 %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2.149,6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Idiazabal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24,528 %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2.311,2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Errenteria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24,302 %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3.925,5 m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639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DD6AC-1EDC-493C-9363-5E779367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Otra edad, otro nivel de exigencia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3258-8C40-4518-AEAA-565A992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1858-5B21-4586-94FF-71BD4518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3EC3E-A95C-460A-A99E-EC0D940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8229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Con 75 o más años y un corte más exigente, aparecen cuatro municipios.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D1C82-D489-4B8A-B5CA-3FC3A2B1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82296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Legazpi, Errenteria, Hondarribia e Idiazabal.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Son consultas distintas. Cambiar la edad o el criterio hace que el agente recalcule.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radio de 3 km se muestra aparte: no determina por sí solo la coincidencia estadística.</a:t>
            </a:r>
          </a:p>
        </p:txBody>
      </p:sp>
    </p:spTree>
    <p:extLst>
      <p:ext uri="{BB962C8B-B14F-4D97-AF65-F5344CB8AC3E}">
        <p14:creationId xmlns:p14="http://schemas.microsoft.com/office/powerpoint/2010/main" val="405474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9ABB2-19FA-429D-9446-64ADEAC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se calcula y de dónde sale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5042C-7AA2-4189-9BD9-D4BC1A22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EBE43-606B-485B-AB3E-82311570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438275"/>
          <a:ext xmlns:a="http://schemas.openxmlformats.org/drawingml/2006/main" cx="8229600" cy="140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048000"/>
                <a:gridCol w="2514600"/>
              </a:tblGrid>
              <a:tr h="352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Fuente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Información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2D4F7"/>
                          </a:solidFill>
                          <a:latin typeface="Arial"/>
                          <a:ea typeface="Arial"/>
                          <a:cs typeface="Arial"/>
                        </a:rPr>
                        <a:t>Referencia</a:t>
                      </a:r>
                    </a:p>
                  </a:txBody>
                  <a:tcPr marL="91440" marR="91440" marT="45720" marB="45720">
                    <a:solidFill>
                      <a:srgbClr val="123C5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Eustat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Población municipal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01/01/2025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geoEuskadi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Geometría municipal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07/05/2025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 Data Euskadi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 sanitario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20/09/2026</a:t>
                      </a:r>
                    </a:p>
                  </a:txBody>
                  <a:tcPr marL="91440" marR="91440" marT="45720" marB="45720">
                    <a:solidFill>
                      <a:srgbClr val="071F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26572-4EE7-427F-86F2-8475FE3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82296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cuantil 0,75 o 0,80 fija un corte relativo en cada indicador. Se cruzan los municipios que alcanzan ambos cortes.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fuentes tienen fechas distintas. No describen una misma fotografía temporal.</a:t>
            </a:r>
          </a:p>
        </p:txBody>
      </p:sp>
    </p:spTree>
    <p:extLst>
      <p:ext uri="{BB962C8B-B14F-4D97-AF65-F5344CB8AC3E}">
        <p14:creationId xmlns:p14="http://schemas.microsoft.com/office/powerpoint/2010/main" val="889318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343D0-118D-4881-A677-A70049F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Límites que importan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6B5E7-5D00-409E-88AD-3506A67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63F9C-2BB4-4D63-A31D-21938652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38720-7CA9-4E21-8B16-FF309E6E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La distancia se calcula desde un punto municipal, no desde cada vivienda.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E8299-1680-4DF7-89AA-9E93778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mide tiempos de viaje ni accesibilidad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Cero servicios registrados no demuestra ausencia de atención sanitaria.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conocemos citas disponibles, personal ni capacidad. El análisis no predice el futuro ni decide dónde invertir.</a:t>
            </a:r>
          </a:p>
        </p:txBody>
      </p:sp>
    </p:spTree>
    <p:extLst>
      <p:ext uri="{BB962C8B-B14F-4D97-AF65-F5344CB8AC3E}">
        <p14:creationId xmlns:p14="http://schemas.microsoft.com/office/powerpoint/2010/main" val="33807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E848D-677E-4FBC-B0C8-1D8DC2AD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resultado que se puede contrastar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EB432-ED77-4C91-81C7-867310C6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EF34-3025-4EFB-9099-49315C32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FB18-7BFD-4FBC-9A44-D1B29C39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2D4F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2D4F7"/>
                </a:solidFill>
                <a:latin typeface="Arial"/>
                <a:ea typeface="Arial"/>
                <a:cs typeface="Arial"/>
              </a:rPr>
              <a:t>Legazpi: 27,170 % de población de 65 o más años y 2.624,8 m al registro más cercano.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D688-62FC-4843-A5F0-A280C18B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8229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conversación muestra el cálculo real.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visualización permite explorar los resultados territoriales.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repositorio conserva datos preparados, fuentes y metodología.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BC27-C588-452D-B415-FC4701E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822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asier-comba.github.io/Guipuzkoa360/</a:t>
            </a:r>
          </a:p>
          <a:p xmlns:a="http://schemas.openxmlformats.org/drawingml/2006/main">
            <a:pPr>
              <a:defRPr sz="1500" b="0">
                <a:solidFill>
                  <a:srgbClr val="C3D5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D5E2"/>
                </a:solidFill>
                <a:latin typeface="Arial"/>
                <a:ea typeface="Arial"/>
                <a:cs typeface="Arial"/>
              </a:rPr>
              <a:t>github.com/Asier-Comba/Guipuzkoa360</a:t>
            </a:r>
          </a:p>
        </p:txBody>
      </p:sp>
    </p:spTree>
    <p:extLst>
      <p:ext uri="{BB962C8B-B14F-4D97-AF65-F5344CB8AC3E}">
        <p14:creationId xmlns:p14="http://schemas.microsoft.com/office/powerpoint/2010/main" val="1996257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2026-10-03T21:25:20.7850000Z</dcterms:created>
  <dcterms:modified xsi:type="dcterms:W3CDTF">2026-10-03T21:25:20.7850000Z</dcterms:modified>
</coreProperties>
</file>